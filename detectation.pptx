
<file path=[Content_Types].xml><?xml version="1.0" encoding="utf-8"?>
<Types xmlns="http://schemas.openxmlformats.org/package/2006/content-types">
  <Default Extension="png" ContentType="image/png"/>
  <Default Extension="jfif" ContentType="image/jpe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62" r:id="rId4"/>
    <p:sldId id="258" r:id="rId5"/>
    <p:sldId id="263" r:id="rId6"/>
    <p:sldId id="259" r:id="rId7"/>
    <p:sldId id="260" r:id="rId8"/>
    <p:sldId id="264" r:id="rId9"/>
    <p:sldId id="265" r:id="rId10"/>
    <p:sldId id="266" r:id="rId11"/>
    <p:sldId id="267" r:id="rId12"/>
    <p:sldId id="261" r:id="rId13"/>
  </p:sldIdLst>
  <p:sldSz cx="18288000" cy="10287000"/>
  <p:notesSz cx="6858000" cy="9144000"/>
  <p:embeddedFontLst>
    <p:embeddedFont>
      <p:font typeface="Modern No. 20" pitchFamily="18" charset="0"/>
      <p:regular r:id="rId15"/>
    </p:embeddedFont>
    <p:embeddedFont>
      <p:font typeface="Cormorant Garamond Bold" charset="0"/>
      <p:regular r:id="rId16"/>
    </p:embeddedFont>
    <p:embeddedFont>
      <p:font typeface="Calibri"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95B1EC-CC11-4575-BC78-CEE6FB4619AD}" v="7" dt="2025-11-23T16:52:13.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57" autoAdjust="0"/>
    <p:restoredTop sz="86439" autoAdjust="0"/>
  </p:normalViewPr>
  <p:slideViewPr>
    <p:cSldViewPr>
      <p:cViewPr>
        <p:scale>
          <a:sx n="44" d="100"/>
          <a:sy n="44" d="100"/>
        </p:scale>
        <p:origin x="-596" y="-1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16"/>
    </p:cViewPr>
  </p:sorterViewPr>
  <p:notesViewPr>
    <p:cSldViewPr>
      <p:cViewPr>
        <p:scale>
          <a:sx n="125" d="100"/>
          <a:sy n="125" d="100"/>
        </p:scale>
        <p:origin x="-1088" y="8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B0CA3-16B0-402D-88DE-19B09A746A37}" type="datetimeFigureOut">
              <a:rPr lang="en-IN" smtClean="0"/>
              <a:t>28-02-2026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79468-1692-412D-A86D-3972803EF2C8}" type="slidenum">
              <a:rPr lang="en-IN" smtClean="0"/>
              <a:t>‹#›</a:t>
            </a:fld>
            <a:endParaRPr lang="en-IN"/>
          </a:p>
        </p:txBody>
      </p:sp>
    </p:spTree>
    <p:extLst>
      <p:ext uri="{BB962C8B-B14F-4D97-AF65-F5344CB8AC3E}">
        <p14:creationId xmlns:p14="http://schemas.microsoft.com/office/powerpoint/2010/main" val="2958431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9B79468-1692-412D-A86D-3972803EF2C8}" type="slidenum">
              <a:rPr lang="en-IN" smtClean="0"/>
              <a:t>1</a:t>
            </a:fld>
            <a:endParaRPr lang="en-IN"/>
          </a:p>
        </p:txBody>
      </p:sp>
    </p:spTree>
    <p:extLst>
      <p:ext uri="{BB962C8B-B14F-4D97-AF65-F5344CB8AC3E}">
        <p14:creationId xmlns:p14="http://schemas.microsoft.com/office/powerpoint/2010/main" val="3005685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B79468-1692-412D-A86D-3972803EF2C8}" type="slidenum">
              <a:rPr lang="en-IN" smtClean="0"/>
              <a:t>2</a:t>
            </a:fld>
            <a:endParaRPr lang="en-IN"/>
          </a:p>
        </p:txBody>
      </p:sp>
    </p:spTree>
    <p:extLst>
      <p:ext uri="{BB962C8B-B14F-4D97-AF65-F5344CB8AC3E}">
        <p14:creationId xmlns:p14="http://schemas.microsoft.com/office/powerpoint/2010/main" val="1166589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9B79468-1692-412D-A86D-3972803EF2C8}" type="slidenum">
              <a:rPr lang="en-IN" smtClean="0"/>
              <a:t>3</a:t>
            </a:fld>
            <a:endParaRPr lang="en-IN"/>
          </a:p>
        </p:txBody>
      </p:sp>
    </p:spTree>
    <p:extLst>
      <p:ext uri="{BB962C8B-B14F-4D97-AF65-F5344CB8AC3E}">
        <p14:creationId xmlns:p14="http://schemas.microsoft.com/office/powerpoint/2010/main" val="2634188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B79468-1692-412D-A86D-3972803EF2C8}" type="slidenum">
              <a:rPr lang="en-IN" smtClean="0"/>
              <a:t>4</a:t>
            </a:fld>
            <a:endParaRPr lang="en-IN"/>
          </a:p>
        </p:txBody>
      </p:sp>
    </p:spTree>
    <p:extLst>
      <p:ext uri="{BB962C8B-B14F-4D97-AF65-F5344CB8AC3E}">
        <p14:creationId xmlns:p14="http://schemas.microsoft.com/office/powerpoint/2010/main" val="6177368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9B79468-1692-412D-A86D-3972803EF2C8}" type="slidenum">
              <a:rPr lang="en-IN" smtClean="0"/>
              <a:t>5</a:t>
            </a:fld>
            <a:endParaRPr lang="en-IN"/>
          </a:p>
        </p:txBody>
      </p:sp>
    </p:spTree>
    <p:extLst>
      <p:ext uri="{BB962C8B-B14F-4D97-AF65-F5344CB8AC3E}">
        <p14:creationId xmlns:p14="http://schemas.microsoft.com/office/powerpoint/2010/main" val="2092802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9B79468-1692-412D-A86D-3972803EF2C8}" type="slidenum">
              <a:rPr lang="en-IN" smtClean="0"/>
              <a:t>6</a:t>
            </a:fld>
            <a:endParaRPr lang="en-IN"/>
          </a:p>
        </p:txBody>
      </p:sp>
    </p:spTree>
    <p:extLst>
      <p:ext uri="{BB962C8B-B14F-4D97-AF65-F5344CB8AC3E}">
        <p14:creationId xmlns:p14="http://schemas.microsoft.com/office/powerpoint/2010/main" val="2789191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9B79468-1692-412D-A86D-3972803EF2C8}" type="slidenum">
              <a:rPr lang="en-IN" smtClean="0"/>
              <a:t>7</a:t>
            </a:fld>
            <a:endParaRPr lang="en-IN"/>
          </a:p>
        </p:txBody>
      </p:sp>
    </p:spTree>
    <p:extLst>
      <p:ext uri="{BB962C8B-B14F-4D97-AF65-F5344CB8AC3E}">
        <p14:creationId xmlns:p14="http://schemas.microsoft.com/office/powerpoint/2010/main" val="246112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9B79468-1692-412D-A86D-3972803EF2C8}" type="slidenum">
              <a:rPr lang="en-IN" smtClean="0"/>
              <a:t>8</a:t>
            </a:fld>
            <a:endParaRPr lang="en-IN"/>
          </a:p>
        </p:txBody>
      </p:sp>
    </p:spTree>
    <p:extLst>
      <p:ext uri="{BB962C8B-B14F-4D97-AF65-F5344CB8AC3E}">
        <p14:creationId xmlns:p14="http://schemas.microsoft.com/office/powerpoint/2010/main" val="166615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9B79468-1692-412D-A86D-3972803EF2C8}" type="slidenum">
              <a:rPr lang="en-IN" smtClean="0"/>
              <a:t>12</a:t>
            </a:fld>
            <a:endParaRPr lang="en-IN"/>
          </a:p>
        </p:txBody>
      </p:sp>
      <p:sp>
        <p:nvSpPr>
          <p:cNvPr id="5" name="Rectangle 4"/>
          <p:cNvSpPr/>
          <p:nvPr/>
        </p:nvSpPr>
        <p:spPr>
          <a:xfrm>
            <a:off x="1714500" y="4110335"/>
            <a:ext cx="3429000" cy="1754326"/>
          </a:xfrm>
          <a:prstGeom prst="rect">
            <a:avLst/>
          </a:prstGeom>
        </p:spPr>
        <p:txBody>
          <a:bodyPr>
            <a:spAutoFit/>
          </a:bodyPr>
          <a:lstStyle/>
          <a:p>
            <a:r>
              <a:rPr lang="en-US" dirty="0"/>
              <a:t>Project: AI-Based Early Depression Risk Detection Using Passive Signals Project: AI-Based Early Depression Risk Detection Using Passive Signals</a:t>
            </a:r>
            <a:endParaRPr lang="en-IN" dirty="0"/>
          </a:p>
        </p:txBody>
      </p:sp>
    </p:spTree>
    <p:extLst>
      <p:ext uri="{BB962C8B-B14F-4D97-AF65-F5344CB8AC3E}">
        <p14:creationId xmlns:p14="http://schemas.microsoft.com/office/powerpoint/2010/main" val="1465073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10" name="Rectangle 9"/>
          <p:cNvSpPr/>
          <p:nvPr userDrawn="1"/>
        </p:nvSpPr>
        <p:spPr>
          <a:xfrm>
            <a:off x="0" y="0"/>
            <a:ext cx="18288000" cy="10287000"/>
          </a:xfrm>
          <a:prstGeom prst="rect">
            <a:avLst/>
          </a:prstGeom>
          <a:blipFill dpi="0" rotWithShape="1">
            <a:blip r:embed="rId13">
              <a:alphaModFix amt="20000"/>
              <a:extLst>
                <a:ext uri="{28A0092B-C50C-407E-A947-70E740481C1C}">
                  <a14:useLocalDpi xmlns:a14="http://schemas.microsoft.com/office/drawing/2010/main" val="0"/>
                </a:ext>
              </a:extLst>
            </a:blip>
            <a:srcRect/>
            <a:stretch>
              <a:fillRect/>
            </a:stretch>
          </a:blip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jfi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660070" y="5835604"/>
            <a:ext cx="16942130" cy="3755246"/>
          </a:xfrm>
          <a:custGeom>
            <a:avLst/>
            <a:gdLst/>
            <a:ahLst/>
            <a:cxnLst/>
            <a:rect l="l" t="t" r="r" b="b"/>
            <a:pathLst>
              <a:path w="8520598" h="1751105">
                <a:moveTo>
                  <a:pt x="0" y="0"/>
                </a:moveTo>
                <a:lnTo>
                  <a:pt x="8520598" y="0"/>
                </a:lnTo>
                <a:lnTo>
                  <a:pt x="8520598" y="1751105"/>
                </a:lnTo>
                <a:lnTo>
                  <a:pt x="0" y="175110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r>
              <a:rPr lang="en-IN" sz="3600" b="1" dirty="0" smtClean="0">
                <a:latin typeface="Times New Roman" pitchFamily="18" charset="0"/>
                <a:cs typeface="Times New Roman" pitchFamily="18" charset="0"/>
              </a:rPr>
              <a:t>Collage Name </a:t>
            </a:r>
            <a:r>
              <a:rPr lang="en-IN" sz="3420" b="1" dirty="0" smtClean="0">
                <a:latin typeface="Times New Roman" pitchFamily="18" charset="0"/>
                <a:cs typeface="Times New Roman" pitchFamily="18" charset="0"/>
              </a:rPr>
              <a:t>: </a:t>
            </a:r>
            <a:r>
              <a:rPr lang="en-IN" sz="3420" dirty="0" err="1" smtClean="0">
                <a:latin typeface="Times New Roman" pitchFamily="18" charset="0"/>
                <a:cs typeface="Times New Roman" pitchFamily="18" charset="0"/>
              </a:rPr>
              <a:t>Bapuji</a:t>
            </a:r>
            <a:r>
              <a:rPr lang="en-IN" sz="3420" dirty="0" smtClean="0">
                <a:latin typeface="Times New Roman" pitchFamily="18" charset="0"/>
                <a:cs typeface="Times New Roman" pitchFamily="18" charset="0"/>
              </a:rPr>
              <a:t> </a:t>
            </a:r>
            <a:r>
              <a:rPr lang="en-IN" sz="3420" dirty="0" smtClean="0">
                <a:latin typeface="Times New Roman" pitchFamily="18" charset="0"/>
                <a:cs typeface="Times New Roman" pitchFamily="18" charset="0"/>
              </a:rPr>
              <a:t>Institute of engineering and technology </a:t>
            </a:r>
            <a:r>
              <a:rPr lang="en-IN" sz="3420" dirty="0" err="1" smtClean="0">
                <a:latin typeface="Times New Roman" pitchFamily="18" charset="0"/>
                <a:cs typeface="Times New Roman" pitchFamily="18" charset="0"/>
              </a:rPr>
              <a:t>Davanagere</a:t>
            </a:r>
            <a:r>
              <a:rPr lang="en-IN" sz="3420" dirty="0" smtClean="0">
                <a:latin typeface="Times New Roman" pitchFamily="18" charset="0"/>
                <a:cs typeface="Times New Roman" pitchFamily="18" charset="0"/>
              </a:rPr>
              <a:t> </a:t>
            </a:r>
            <a:endParaRPr lang="en-IN" sz="3420" dirty="0" smtClean="0">
              <a:latin typeface="Times New Roman" pitchFamily="18" charset="0"/>
              <a:cs typeface="Times New Roman" pitchFamily="18" charset="0"/>
            </a:endParaRPr>
          </a:p>
          <a:p>
            <a:endParaRPr lang="en-IN" sz="3420" dirty="0" smtClean="0">
              <a:latin typeface="Times New Roman" pitchFamily="18" charset="0"/>
              <a:cs typeface="Times New Roman" pitchFamily="18" charset="0"/>
            </a:endParaRPr>
          </a:p>
          <a:p>
            <a:r>
              <a:rPr lang="en-IN" sz="3600" b="1" dirty="0" smtClean="0">
                <a:latin typeface="Times New Roman" pitchFamily="18" charset="0"/>
                <a:cs typeface="Times New Roman" pitchFamily="18" charset="0"/>
              </a:rPr>
              <a:t>Overview : </a:t>
            </a:r>
            <a:r>
              <a:rPr lang="en-US" sz="3200" dirty="0" smtClean="0">
                <a:latin typeface="Times New Roman" pitchFamily="18" charset="0"/>
                <a:cs typeface="Times New Roman" pitchFamily="18" charset="0"/>
              </a:rPr>
              <a:t>The AI Depression Risk Detection System predicts early signs of depression using behavioral data like sleep, screen time, and activity levels. </a:t>
            </a:r>
            <a:r>
              <a:rPr lang="en-US" sz="3200" dirty="0">
                <a:latin typeface="Times New Roman" pitchFamily="18" charset="0"/>
                <a:cs typeface="Times New Roman" pitchFamily="18" charset="0"/>
              </a:rPr>
              <a:t>It uses a Machine Learning model to classify risk levels and provide personalized mental health support.  </a:t>
            </a:r>
          </a:p>
          <a:p>
            <a:r>
              <a:rPr lang="en-US" sz="3200" dirty="0">
                <a:latin typeface="Times New Roman" pitchFamily="18" charset="0"/>
                <a:cs typeface="Times New Roman" pitchFamily="18" charset="0"/>
              </a:rPr>
              <a:t>The system also includes interactive features like therapy suggestions, games, and voice emotion detection to improve well-being.</a:t>
            </a:r>
            <a:endParaRPr lang="en-US" sz="3200" dirty="0" smtClean="0">
              <a:latin typeface="Times New Roman" pitchFamily="18" charset="0"/>
              <a:cs typeface="Times New Roman" pitchFamily="18" charset="0"/>
            </a:endParaRPr>
          </a:p>
          <a:p>
            <a:endParaRPr lang="en-IN" sz="3600" dirty="0">
              <a:latin typeface="Times New Roman" pitchFamily="18" charset="0"/>
              <a:cs typeface="Times New Roman" pitchFamily="18" charset="0"/>
            </a:endParaRPr>
          </a:p>
        </p:txBody>
      </p:sp>
      <p:sp>
        <p:nvSpPr>
          <p:cNvPr id="5" name="Freeform 5"/>
          <p:cNvSpPr/>
          <p:nvPr/>
        </p:nvSpPr>
        <p:spPr>
          <a:xfrm flipV="1">
            <a:off x="7257" y="1220314"/>
            <a:ext cx="18288000" cy="45719"/>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5"/>
            <a:stretch>
              <a:fillRect/>
            </a:stretch>
          </a:blipFill>
        </p:spPr>
        <p:txBody>
          <a:bodyPr/>
          <a:lstStyle/>
          <a:p>
            <a:endParaRPr lang="en-IN"/>
          </a:p>
        </p:txBody>
      </p:sp>
      <p:sp>
        <p:nvSpPr>
          <p:cNvPr id="6" name="TextBox 6"/>
          <p:cNvSpPr txBox="1"/>
          <p:nvPr/>
        </p:nvSpPr>
        <p:spPr>
          <a:xfrm>
            <a:off x="609600" y="3412194"/>
            <a:ext cx="15011400" cy="2462213"/>
          </a:xfrm>
          <a:prstGeom prst="rect">
            <a:avLst/>
          </a:prstGeom>
        </p:spPr>
        <p:txBody>
          <a:bodyPr wrap="square" lIns="0" tIns="0" rIns="0" bIns="0" rtlCol="0" anchor="t">
            <a:spAutoFit/>
          </a:bodyPr>
          <a:lstStyle/>
          <a:p>
            <a:pPr marL="738547" lvl="1" indent="-369273" algn="l">
              <a:lnSpc>
                <a:spcPts val="4789"/>
              </a:lnSpc>
              <a:buFont typeface="Arial"/>
              <a:buChar char="•"/>
            </a:pPr>
            <a:r>
              <a:rPr lang="en-US" sz="3200" b="1" dirty="0" smtClean="0">
                <a:solidFill>
                  <a:srgbClr val="000000"/>
                </a:solidFill>
                <a:latin typeface="Times New Roman" pitchFamily="18" charset="0"/>
                <a:ea typeface="Cormorant Garamond Bold"/>
                <a:cs typeface="Times New Roman" pitchFamily="18" charset="0"/>
                <a:sym typeface="Cormorant Garamond Bold"/>
              </a:rPr>
              <a:t>Team Name : </a:t>
            </a:r>
            <a:r>
              <a:rPr lang="en-US" sz="3200" dirty="0" err="1" smtClean="0">
                <a:solidFill>
                  <a:srgbClr val="000000"/>
                </a:solidFill>
                <a:latin typeface="Times New Roman" pitchFamily="18" charset="0"/>
                <a:ea typeface="Cormorant Garamond Bold"/>
                <a:cs typeface="Times New Roman" pitchFamily="18" charset="0"/>
                <a:sym typeface="Cormorant Garamond Bold"/>
              </a:rPr>
              <a:t>Luminex</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738547" lvl="1" indent="-369273" algn="l">
              <a:lnSpc>
                <a:spcPts val="4789"/>
              </a:lnSpc>
              <a:buFont typeface="Arial"/>
              <a:buChar char="•"/>
            </a:pPr>
            <a:r>
              <a:rPr lang="en-US" sz="3200" b="1" dirty="0" smtClean="0">
                <a:solidFill>
                  <a:srgbClr val="000000"/>
                </a:solidFill>
                <a:latin typeface="Times New Roman" pitchFamily="18" charset="0"/>
                <a:ea typeface="Cormorant Garamond Bold"/>
                <a:cs typeface="Times New Roman" pitchFamily="18" charset="0"/>
                <a:sym typeface="Cormorant Garamond Bold"/>
              </a:rPr>
              <a:t>Domain </a:t>
            </a:r>
            <a:r>
              <a:rPr lang="en-US" sz="3200" b="1" dirty="0">
                <a:solidFill>
                  <a:srgbClr val="000000"/>
                </a:solidFill>
                <a:latin typeface="Times New Roman" pitchFamily="18" charset="0"/>
                <a:ea typeface="Cormorant Garamond Bold"/>
                <a:cs typeface="Times New Roman" pitchFamily="18" charset="0"/>
                <a:sym typeface="Cormorant Garamond Bold"/>
              </a:rPr>
              <a:t>: </a:t>
            </a:r>
            <a:r>
              <a:rPr lang="en-US" sz="3200" dirty="0" smtClean="0">
                <a:solidFill>
                  <a:srgbClr val="000000"/>
                </a:solidFill>
                <a:latin typeface="Times New Roman" pitchFamily="18" charset="0"/>
                <a:ea typeface="Cormorant Garamond Bold"/>
                <a:cs typeface="Times New Roman" pitchFamily="18" charset="0"/>
                <a:sym typeface="Cormorant Garamond Bold"/>
              </a:rPr>
              <a:t>Health Tech</a:t>
            </a:r>
            <a:endParaRPr lang="en-US" sz="3200" dirty="0">
              <a:solidFill>
                <a:srgbClr val="000000"/>
              </a:solidFill>
              <a:latin typeface="Times New Roman" pitchFamily="18" charset="0"/>
              <a:ea typeface="Cormorant Garamond Bold"/>
              <a:cs typeface="Times New Roman" pitchFamily="18" charset="0"/>
              <a:sym typeface="Cormorant Garamond Bold"/>
            </a:endParaRPr>
          </a:p>
          <a:p>
            <a:pPr marL="826474" lvl="1" indent="-457200">
              <a:lnSpc>
                <a:spcPts val="4789"/>
              </a:lnSpc>
              <a:buFont typeface="Arial" pitchFamily="34" charset="0"/>
              <a:buChar char="•"/>
            </a:pPr>
            <a:r>
              <a:rPr lang="en-US" sz="3200" b="1" dirty="0" smtClean="0">
                <a:solidFill>
                  <a:srgbClr val="000000"/>
                </a:solidFill>
                <a:latin typeface="Times New Roman" pitchFamily="18" charset="0"/>
                <a:ea typeface="Cormorant Garamond Bold"/>
                <a:cs typeface="Times New Roman" pitchFamily="18" charset="0"/>
                <a:sym typeface="Cormorant Garamond Bold"/>
              </a:rPr>
              <a:t>Team </a:t>
            </a:r>
            <a:r>
              <a:rPr lang="en-US" sz="3200" b="1" dirty="0">
                <a:solidFill>
                  <a:srgbClr val="000000"/>
                </a:solidFill>
                <a:latin typeface="Times New Roman" pitchFamily="18" charset="0"/>
                <a:ea typeface="Cormorant Garamond Bold"/>
                <a:cs typeface="Times New Roman" pitchFamily="18" charset="0"/>
                <a:sym typeface="Cormorant Garamond Bold"/>
              </a:rPr>
              <a:t>Members : </a:t>
            </a:r>
            <a:r>
              <a:rPr lang="en-US" sz="3200" b="1" dirty="0">
                <a:solidFill>
                  <a:srgbClr val="000000"/>
                </a:solidFill>
                <a:latin typeface="Times New Roman" pitchFamily="18" charset="0"/>
                <a:ea typeface="Cormorant Garamond Bold"/>
                <a:cs typeface="Times New Roman" pitchFamily="18" charset="0"/>
                <a:sym typeface="Cormorant Garamond Bold"/>
              </a:rPr>
              <a:t> </a:t>
            </a:r>
            <a:r>
              <a:rPr lang="en-US" sz="3200" b="1"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err="1" smtClean="0">
                <a:solidFill>
                  <a:srgbClr val="000000"/>
                </a:solidFill>
                <a:latin typeface="Times New Roman" pitchFamily="18" charset="0"/>
                <a:ea typeface="Cormorant Garamond Bold"/>
                <a:cs typeface="Times New Roman" pitchFamily="18" charset="0"/>
                <a:sym typeface="Cormorant Garamond Bold"/>
              </a:rPr>
              <a:t>Ramya</a:t>
            </a:r>
            <a:r>
              <a:rPr lang="en-US" sz="3200" dirty="0" smtClean="0">
                <a:solidFill>
                  <a:srgbClr val="000000"/>
                </a:solidFill>
                <a:latin typeface="Times New Roman" pitchFamily="18" charset="0"/>
                <a:ea typeface="Cormorant Garamond Bold"/>
                <a:cs typeface="Times New Roman" pitchFamily="18" charset="0"/>
                <a:sym typeface="Cormorant Garamond Bold"/>
              </a:rPr>
              <a:t>. M.M </a:t>
            </a:r>
            <a:r>
              <a:rPr lang="en-US" sz="3200" dirty="0">
                <a:solidFill>
                  <a:srgbClr val="000000"/>
                </a:solidFill>
                <a:latin typeface="Times New Roman" pitchFamily="18" charset="0"/>
                <a:ea typeface="Cormorant Garamond Bold"/>
                <a:cs typeface="Times New Roman" pitchFamily="18" charset="0"/>
                <a:sym typeface="Cormorant Garamond Bold"/>
              </a:rPr>
              <a:t>(</a:t>
            </a:r>
            <a:r>
              <a:rPr lang="en-US" sz="3200" dirty="0" smtClean="0">
                <a:solidFill>
                  <a:srgbClr val="000000"/>
                </a:solidFill>
                <a:latin typeface="Times New Roman" pitchFamily="18" charset="0"/>
                <a:ea typeface="Cormorant Garamond Bold"/>
                <a:cs typeface="Times New Roman" pitchFamily="18" charset="0"/>
                <a:sym typeface="Cormorant Garamond Bold"/>
              </a:rPr>
              <a:t>Leader)		Avvamma </a:t>
            </a:r>
            <a:endParaRPr lang="en-US" sz="3200" dirty="0">
              <a:solidFill>
                <a:srgbClr val="000000"/>
              </a:solidFill>
              <a:latin typeface="Times New Roman" pitchFamily="18" charset="0"/>
              <a:ea typeface="Cormorant Garamond Bold"/>
              <a:cs typeface="Times New Roman" pitchFamily="18" charset="0"/>
              <a:sym typeface="Cormorant Garamond Bold"/>
            </a:endParaRPr>
          </a:p>
          <a:p>
            <a:pPr marL="369274" lvl="1">
              <a:lnSpc>
                <a:spcPts val="4789"/>
              </a:lnSpc>
            </a:pPr>
            <a:r>
              <a:rPr lang="en-US" sz="3200"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		    </a:t>
            </a:r>
            <a:r>
              <a:rPr lang="en-US" sz="3200" dirty="0" err="1" smtClean="0">
                <a:solidFill>
                  <a:srgbClr val="000000"/>
                </a:solidFill>
                <a:latin typeface="Times New Roman" pitchFamily="18" charset="0"/>
                <a:ea typeface="Cormorant Garamond Bold"/>
                <a:cs typeface="Times New Roman" pitchFamily="18" charset="0"/>
                <a:sym typeface="Cormorant Garamond Bold"/>
              </a:rPr>
              <a:t>Shashidhar</a:t>
            </a:r>
            <a:r>
              <a:rPr lang="en-US" sz="3200" dirty="0" smtClean="0">
                <a:solidFill>
                  <a:srgbClr val="000000"/>
                </a:solidFill>
                <a:latin typeface="Times New Roman" pitchFamily="18" charset="0"/>
                <a:ea typeface="Cormorant Garamond Bold"/>
                <a:cs typeface="Times New Roman" pitchFamily="18" charset="0"/>
                <a:sym typeface="Cormorant Garamond Bold"/>
              </a:rPr>
              <a:t>. H.M.			</a:t>
            </a:r>
            <a:r>
              <a:rPr lang="en-US" sz="3200" dirty="0" err="1">
                <a:solidFill>
                  <a:srgbClr val="000000"/>
                </a:solidFill>
                <a:latin typeface="Times New Roman" pitchFamily="18" charset="0"/>
                <a:ea typeface="Cormorant Garamond Bold"/>
                <a:cs typeface="Times New Roman" pitchFamily="18" charset="0"/>
                <a:sym typeface="Cormorant Garamond Bold"/>
              </a:rPr>
              <a:t>Aishwarya</a:t>
            </a:r>
            <a:r>
              <a:rPr lang="en-US" sz="3200" dirty="0" smtClean="0">
                <a:solidFill>
                  <a:srgbClr val="000000"/>
                </a:solidFill>
                <a:latin typeface="Times New Roman" pitchFamily="18" charset="0"/>
                <a:ea typeface="Cormorant Garamond Bold"/>
                <a:cs typeface="Times New Roman" pitchFamily="18" charset="0"/>
                <a:sym typeface="Cormorant Garamond Bold"/>
              </a:rPr>
              <a:t>. G.</a:t>
            </a:r>
          </a:p>
        </p:txBody>
      </p:sp>
      <p:sp>
        <p:nvSpPr>
          <p:cNvPr id="7" name="TextBox 7"/>
          <p:cNvSpPr txBox="1"/>
          <p:nvPr/>
        </p:nvSpPr>
        <p:spPr>
          <a:xfrm>
            <a:off x="9139238" y="4274503"/>
            <a:ext cx="9525" cy="1566544"/>
          </a:xfrm>
          <a:prstGeom prst="rect">
            <a:avLst/>
          </a:prstGeom>
        </p:spPr>
        <p:txBody>
          <a:bodyPr lIns="0" tIns="0" rIns="0" bIns="0" rtlCol="0" anchor="t">
            <a:spAutoFit/>
          </a:bodyPr>
          <a:lstStyle/>
          <a:p>
            <a:pPr algn="ctr">
              <a:lnSpc>
                <a:spcPts val="12880"/>
              </a:lnSpc>
            </a:pPr>
            <a:endParaRPr/>
          </a:p>
        </p:txBody>
      </p:sp>
      <p:sp>
        <p:nvSpPr>
          <p:cNvPr id="9" name="TextBox 9"/>
          <p:cNvSpPr txBox="1"/>
          <p:nvPr/>
        </p:nvSpPr>
        <p:spPr>
          <a:xfrm>
            <a:off x="489349" y="2687378"/>
            <a:ext cx="3525956" cy="769441"/>
          </a:xfrm>
          <a:prstGeom prst="rect">
            <a:avLst/>
          </a:prstGeom>
        </p:spPr>
        <p:txBody>
          <a:bodyPr wrap="square" lIns="0" tIns="0" rIns="0" bIns="0" rtlCol="0" anchor="t">
            <a:spAutoFit/>
          </a:bodyPr>
          <a:lstStyle/>
          <a:p>
            <a:pPr algn="ctr">
              <a:lnSpc>
                <a:spcPts val="5971"/>
              </a:lnSpc>
              <a:spcBef>
                <a:spcPct val="0"/>
              </a:spcBef>
            </a:pPr>
            <a:r>
              <a:rPr lang="en-US" sz="4000" b="1" dirty="0" smtClean="0">
                <a:solidFill>
                  <a:srgbClr val="000000"/>
                </a:solidFill>
                <a:latin typeface="Times New Roman" pitchFamily="18" charset="0"/>
                <a:ea typeface="Cormorant Garamond Bold"/>
                <a:cs typeface="Times New Roman" pitchFamily="18" charset="0"/>
                <a:sym typeface="Cormorant Garamond Bold"/>
              </a:rPr>
              <a:t>Team Details </a:t>
            </a:r>
            <a:r>
              <a:rPr lang="en-US" sz="4265" b="1" dirty="0" smtClean="0">
                <a:solidFill>
                  <a:srgbClr val="000000"/>
                </a:solidFill>
                <a:latin typeface="Times New Roman" pitchFamily="18" charset="0"/>
                <a:ea typeface="Cormorant Garamond Bold"/>
                <a:cs typeface="Times New Roman" pitchFamily="18" charset="0"/>
                <a:sym typeface="Cormorant Garamond Bold"/>
              </a:rPr>
              <a:t>:</a:t>
            </a:r>
            <a:endParaRPr lang="en-US" sz="4265" b="1" dirty="0" smtClean="0">
              <a:solidFill>
                <a:srgbClr val="000000"/>
              </a:solidFill>
              <a:latin typeface="Times New Roman" pitchFamily="18" charset="0"/>
              <a:ea typeface="Cormorant Garamond Bold"/>
              <a:cs typeface="Times New Roman" pitchFamily="18" charset="0"/>
              <a:sym typeface="Cormorant Garamond Bold"/>
            </a:endParaRPr>
          </a:p>
        </p:txBody>
      </p:sp>
      <p:sp>
        <p:nvSpPr>
          <p:cNvPr id="18" name="TextBox 17"/>
          <p:cNvSpPr txBox="1"/>
          <p:nvPr/>
        </p:nvSpPr>
        <p:spPr>
          <a:xfrm>
            <a:off x="609600" y="1976388"/>
            <a:ext cx="14554200" cy="769441"/>
          </a:xfrm>
          <a:prstGeom prst="rect">
            <a:avLst/>
          </a:prstGeom>
          <a:noFill/>
        </p:spPr>
        <p:txBody>
          <a:bodyPr wrap="square" rtlCol="0">
            <a:spAutoFit/>
          </a:bodyPr>
          <a:lstStyle/>
          <a:p>
            <a:r>
              <a:rPr lang="en-IN" sz="3600" b="1" dirty="0" smtClean="0">
                <a:latin typeface="Times New Roman" pitchFamily="18" charset="0"/>
                <a:cs typeface="Times New Roman" pitchFamily="18" charset="0"/>
              </a:rPr>
              <a:t>Problem </a:t>
            </a:r>
            <a:r>
              <a:rPr lang="en-IN" sz="3600" b="1" dirty="0" smtClean="0">
                <a:latin typeface="Times New Roman" pitchFamily="18" charset="0"/>
                <a:cs typeface="Times New Roman" pitchFamily="18" charset="0"/>
              </a:rPr>
              <a:t>Statement : </a:t>
            </a:r>
            <a:r>
              <a:rPr lang="en-IN" sz="4270" dirty="0" smtClean="0">
                <a:latin typeface="Times New Roman" pitchFamily="18" charset="0"/>
                <a:cs typeface="Times New Roman" pitchFamily="18" charset="0"/>
              </a:rPr>
              <a:t>“</a:t>
            </a:r>
            <a:r>
              <a:rPr lang="en-US" sz="3420" dirty="0" smtClean="0">
                <a:latin typeface="Times New Roman" pitchFamily="18" charset="0"/>
                <a:cs typeface="Times New Roman" pitchFamily="18" charset="0"/>
              </a:rPr>
              <a:t>Early Disease Risk Detection Using Passive Signals</a:t>
            </a:r>
            <a:r>
              <a:rPr lang="en-US" sz="4270" dirty="0" smtClean="0">
                <a:latin typeface="Times New Roman" pitchFamily="18" charset="0"/>
                <a:cs typeface="Times New Roman" pitchFamily="18" charset="0"/>
              </a:rPr>
              <a:t>”</a:t>
            </a:r>
            <a:endParaRPr lang="en-IN" sz="4270" dirty="0">
              <a:latin typeface="Times New Roman" pitchFamily="18" charset="0"/>
              <a:cs typeface="Times New Roman" pitchFamily="18" charset="0"/>
            </a:endParaRPr>
          </a:p>
        </p:txBody>
      </p:sp>
      <p:sp>
        <p:nvSpPr>
          <p:cNvPr id="20" name="TextBox 19"/>
          <p:cNvSpPr txBox="1"/>
          <p:nvPr/>
        </p:nvSpPr>
        <p:spPr>
          <a:xfrm>
            <a:off x="457200" y="1280862"/>
            <a:ext cx="15316200" cy="707886"/>
          </a:xfrm>
          <a:prstGeom prst="rect">
            <a:avLst/>
          </a:prstGeom>
          <a:noFill/>
        </p:spPr>
        <p:txBody>
          <a:bodyPr wrap="square" rtlCol="0">
            <a:spAutoFit/>
          </a:bodyPr>
          <a:lstStyle/>
          <a:p>
            <a:r>
              <a:rPr lang="en-IN" sz="4000" dirty="0" smtClean="0">
                <a:latin typeface="Cormorant Garamond Bold" charset="0"/>
              </a:rPr>
              <a:t> </a:t>
            </a:r>
            <a:r>
              <a:rPr lang="en-IN" sz="3600" b="1" dirty="0" smtClean="0">
                <a:latin typeface="Times New Roman" pitchFamily="18" charset="0"/>
                <a:cs typeface="Times New Roman" pitchFamily="18" charset="0"/>
              </a:rPr>
              <a:t>Project </a:t>
            </a:r>
            <a:r>
              <a:rPr lang="en-IN" sz="3600" b="1" dirty="0" smtClean="0">
                <a:latin typeface="Times New Roman" pitchFamily="18" charset="0"/>
                <a:cs typeface="Times New Roman" pitchFamily="18" charset="0"/>
              </a:rPr>
              <a:t>Title : </a:t>
            </a:r>
            <a:r>
              <a:rPr lang="en-IN" sz="3200" dirty="0" smtClean="0">
                <a:latin typeface="Times New Roman" pitchFamily="18" charset="0"/>
                <a:cs typeface="Times New Roman" pitchFamily="18" charset="0"/>
              </a:rPr>
              <a:t>“</a:t>
            </a:r>
            <a:r>
              <a:rPr lang="en-US" sz="3200" dirty="0" smtClean="0">
                <a:latin typeface="Times New Roman" pitchFamily="18" charset="0"/>
                <a:cs typeface="Times New Roman" pitchFamily="18" charset="0"/>
              </a:rPr>
              <a:t>AI-Based </a:t>
            </a:r>
            <a:r>
              <a:rPr lang="en-US" sz="3420" dirty="0" smtClean="0">
                <a:latin typeface="Times New Roman" pitchFamily="18" charset="0"/>
                <a:cs typeface="Times New Roman" pitchFamily="18" charset="0"/>
              </a:rPr>
              <a:t>Early Depression Risk Detection Using Passive Signals”</a:t>
            </a:r>
            <a:endParaRPr lang="en-IN" sz="3420" dirty="0" smtClean="0">
              <a:latin typeface="Times New Roman" pitchFamily="18" charset="0"/>
              <a:cs typeface="Times New Roman" pitchFamily="18" charset="0"/>
            </a:endParaRPr>
          </a:p>
        </p:txBody>
      </p:sp>
      <p:sp>
        <p:nvSpPr>
          <p:cNvPr id="3" name="TextBox 2"/>
          <p:cNvSpPr txBox="1"/>
          <p:nvPr/>
        </p:nvSpPr>
        <p:spPr>
          <a:xfrm>
            <a:off x="3962400" y="379158"/>
            <a:ext cx="10058400" cy="830997"/>
          </a:xfrm>
          <a:prstGeom prst="rect">
            <a:avLst/>
          </a:prstGeom>
          <a:noFill/>
        </p:spPr>
        <p:txBody>
          <a:bodyPr wrap="square" rtlCol="0">
            <a:spAutoFit/>
          </a:bodyPr>
          <a:lstStyle/>
          <a:p>
            <a:pPr algn="ctr"/>
            <a:r>
              <a:rPr lang="en-US" sz="4800" b="1" dirty="0">
                <a:solidFill>
                  <a:srgbClr val="000000"/>
                </a:solidFill>
                <a:latin typeface="Modern No. 20" pitchFamily="18" charset="0"/>
                <a:ea typeface="Cormorant Garamond Bold"/>
                <a:cs typeface="Cormorant Garamond Bold"/>
                <a:sym typeface="Cormorant Garamond Bold"/>
              </a:rPr>
              <a:t>Title &amp; </a:t>
            </a:r>
            <a:r>
              <a:rPr lang="en-US" sz="4800" b="1" dirty="0" smtClean="0">
                <a:solidFill>
                  <a:srgbClr val="000000"/>
                </a:solidFill>
                <a:latin typeface="Modern No. 20" pitchFamily="18" charset="0"/>
                <a:ea typeface="Cormorant Garamond Bold"/>
                <a:cs typeface="Cormorant Garamond Bold"/>
                <a:sym typeface="Cormorant Garamond Bold"/>
              </a:rPr>
              <a:t>introduction</a:t>
            </a:r>
            <a:endParaRPr lang="en-US" sz="4800" b="1" dirty="0">
              <a:solidFill>
                <a:srgbClr val="000000"/>
              </a:solidFill>
              <a:latin typeface="Modern No. 20" pitchFamily="18" charset="0"/>
              <a:ea typeface="Cormorant Garamond Bold"/>
              <a:cs typeface="Cormorant Garamond Bold"/>
              <a:sym typeface="Cormorant Garamond Bo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1429869"/>
            <a:ext cx="18288000" cy="45719"/>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5797727" y="853661"/>
            <a:ext cx="8563169" cy="564322"/>
          </a:xfrm>
          <a:prstGeom prst="rect">
            <a:avLst/>
          </a:prstGeom>
        </p:spPr>
        <p:txBody>
          <a:bodyPr lIns="0" tIns="0" rIns="0" bIns="0" rtlCol="0" anchor="t">
            <a:spAutoFit/>
          </a:bodyPr>
          <a:lstStyle/>
          <a:p>
            <a:pPr algn="ctr">
              <a:lnSpc>
                <a:spcPts val="4278"/>
              </a:lnSpc>
            </a:pPr>
            <a:r>
              <a:rPr lang="en-US" sz="4800" b="1" dirty="0">
                <a:solidFill>
                  <a:srgbClr val="171A1A"/>
                </a:solidFill>
                <a:latin typeface="Modern No. 20" pitchFamily="18" charset="0"/>
                <a:ea typeface="Mokoto"/>
                <a:cs typeface="Mokoto"/>
                <a:sym typeface="Mokoto"/>
              </a:rPr>
              <a:t>PROBLEM STATEMENT</a:t>
            </a:r>
          </a:p>
        </p:txBody>
      </p:sp>
      <p:sp>
        <p:nvSpPr>
          <p:cNvPr id="6" name="TextBox 6"/>
          <p:cNvSpPr txBox="1"/>
          <p:nvPr/>
        </p:nvSpPr>
        <p:spPr>
          <a:xfrm>
            <a:off x="1" y="1477764"/>
            <a:ext cx="17754599" cy="8309967"/>
          </a:xfrm>
          <a:prstGeom prst="rect">
            <a:avLst/>
          </a:prstGeom>
        </p:spPr>
        <p:txBody>
          <a:bodyPr wrap="square" lIns="0" tIns="0" rIns="0" bIns="0" rtlCol="0" anchor="t">
            <a:spAutoFit/>
          </a:bodyPr>
          <a:lstStyle/>
          <a:p>
            <a:pPr marL="831082" lvl="1" indent="-415541" algn="just">
              <a:lnSpc>
                <a:spcPts val="5389"/>
              </a:lnSpc>
              <a:buFont typeface="Arial"/>
              <a:buChar char="•"/>
            </a:pPr>
            <a:r>
              <a:rPr lang="en-US" sz="4000" b="1" dirty="0">
                <a:solidFill>
                  <a:srgbClr val="000000"/>
                </a:solidFill>
                <a:latin typeface="Times New Roman" pitchFamily="18" charset="0"/>
                <a:ea typeface="Cormorant Garamond Bold"/>
                <a:cs typeface="Times New Roman" pitchFamily="18" charset="0"/>
                <a:sym typeface="Cormorant Garamond Bold"/>
              </a:rPr>
              <a:t>The real-world problem </a:t>
            </a:r>
            <a:r>
              <a:rPr lang="en-US" sz="4000" b="1"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Prolonged stress gradually affects everyday routines, leading to irregular sleep habits, decreased movement, limited social interaction, and unusual late-night mobile usage. Despite these noticeable lifestyle shifts, they are rarely interpreted as early signs of mental health decline.</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831082" lvl="1" indent="-415541" algn="just">
              <a:lnSpc>
                <a:spcPts val="5389"/>
              </a:lnSpc>
              <a:buFont typeface="Arial"/>
              <a:buChar char="•"/>
            </a:pPr>
            <a:r>
              <a:rPr lang="en-US" sz="4000" b="1" dirty="0" smtClean="0">
                <a:solidFill>
                  <a:srgbClr val="000000"/>
                </a:solidFill>
                <a:latin typeface="Times New Roman" pitchFamily="18" charset="0"/>
                <a:ea typeface="Cormorant Garamond Bold"/>
                <a:cs typeface="Times New Roman" pitchFamily="18" charset="0"/>
                <a:sym typeface="Cormorant Garamond Bold"/>
              </a:rPr>
              <a:t>Why it matters </a:t>
            </a:r>
            <a:r>
              <a:rPr lang="en-US" sz="3200" b="1"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Chronic stress and untreated depression impact students and professionals by reducing focus, productivity, and emotional stability. When early warning signs are ignored, the condition can worsen and affect relationships and overall well-being. Early detection is essential to prevent serious long-term consequences. </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831082" lvl="1" indent="-415541" algn="just">
              <a:lnSpc>
                <a:spcPts val="5389"/>
              </a:lnSpc>
              <a:buFont typeface="Arial"/>
              <a:buChar char="•"/>
            </a:pPr>
            <a:r>
              <a:rPr lang="en-US" sz="4000" b="1" dirty="0" smtClean="0">
                <a:solidFill>
                  <a:srgbClr val="000000"/>
                </a:solidFill>
                <a:latin typeface="Times New Roman" pitchFamily="18" charset="0"/>
                <a:ea typeface="Cormorant Garamond Bold"/>
                <a:cs typeface="Times New Roman" pitchFamily="18" charset="0"/>
                <a:sym typeface="Cormorant Garamond Bold"/>
              </a:rPr>
              <a:t>Quick </a:t>
            </a:r>
            <a:r>
              <a:rPr lang="en-US" sz="4000" b="1" dirty="0">
                <a:solidFill>
                  <a:srgbClr val="000000"/>
                </a:solidFill>
                <a:latin typeface="Times New Roman" pitchFamily="18" charset="0"/>
                <a:ea typeface="Cormorant Garamond Bold"/>
                <a:cs typeface="Times New Roman" pitchFamily="18" charset="0"/>
                <a:sym typeface="Cormorant Garamond Bold"/>
              </a:rPr>
              <a:t>data to support the need : </a:t>
            </a:r>
            <a:r>
              <a:rPr lang="en-US" sz="3200" dirty="0">
                <a:solidFill>
                  <a:srgbClr val="000000"/>
                </a:solidFill>
                <a:latin typeface="Times New Roman" pitchFamily="18" charset="0"/>
                <a:ea typeface="Cormorant Garamond Bold"/>
                <a:cs typeface="Times New Roman" pitchFamily="18" charset="0"/>
                <a:sym typeface="Cormorant Garamond Bold"/>
              </a:rPr>
              <a:t>Globally over 280 million people live with depression, and in India nearly 15 % of adults need active mental health intervention. However, more than 75 % of those affected in low- and middle-income countries do not receive proper treatment, highlighting a major gap in early detection and care.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3"/>
          <p:cNvSpPr/>
          <p:nvPr/>
        </p:nvSpPr>
        <p:spPr>
          <a:xfrm>
            <a:off x="0" y="1479468"/>
            <a:ext cx="18288000" cy="45719"/>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18" name="Rectangle 17"/>
          <p:cNvSpPr/>
          <p:nvPr/>
        </p:nvSpPr>
        <p:spPr>
          <a:xfrm>
            <a:off x="5487542" y="810927"/>
            <a:ext cx="8001000" cy="656655"/>
          </a:xfrm>
          <a:prstGeom prst="rect">
            <a:avLst/>
          </a:prstGeom>
        </p:spPr>
        <p:txBody>
          <a:bodyPr wrap="square">
            <a:spAutoFit/>
          </a:bodyPr>
          <a:lstStyle/>
          <a:p>
            <a:pPr algn="ctr">
              <a:lnSpc>
                <a:spcPts val="4278"/>
              </a:lnSpc>
            </a:pPr>
            <a:r>
              <a:rPr lang="en-US" sz="4800" b="1" dirty="0">
                <a:solidFill>
                  <a:srgbClr val="171A1A"/>
                </a:solidFill>
                <a:latin typeface="Modern No. 20" pitchFamily="18" charset="0"/>
                <a:ea typeface="Mokoto"/>
                <a:cs typeface="Mokoto"/>
                <a:sym typeface="Mokoto"/>
              </a:rPr>
              <a:t>PROBLEM STATEMENT</a:t>
            </a:r>
          </a:p>
        </p:txBody>
      </p:sp>
      <p:sp>
        <p:nvSpPr>
          <p:cNvPr id="20" name="Rectangle 19"/>
          <p:cNvSpPr/>
          <p:nvPr/>
        </p:nvSpPr>
        <p:spPr>
          <a:xfrm>
            <a:off x="304800" y="1878200"/>
            <a:ext cx="10972800" cy="707886"/>
          </a:xfrm>
          <a:prstGeom prst="rect">
            <a:avLst/>
          </a:prstGeom>
        </p:spPr>
        <p:txBody>
          <a:bodyPr wrap="square">
            <a:spAutoFit/>
          </a:bodyPr>
          <a:lstStyle/>
          <a:p>
            <a:pPr marL="571500" indent="-571500" algn="just">
              <a:buFont typeface="Arial" pitchFamily="34" charset="0"/>
              <a:buChar char="•"/>
            </a:pPr>
            <a:r>
              <a:rPr lang="en-IN" sz="4000" dirty="0">
                <a:latin typeface="Times New Roman" pitchFamily="18" charset="0"/>
                <a:cs typeface="Times New Roman" pitchFamily="18" charset="0"/>
              </a:rPr>
              <a:t>Current Limitations </a:t>
            </a:r>
            <a:r>
              <a:rPr lang="en-IN" sz="4000" dirty="0" smtClean="0">
                <a:latin typeface="Times New Roman" pitchFamily="18" charset="0"/>
                <a:cs typeface="Times New Roman" pitchFamily="18" charset="0"/>
              </a:rPr>
              <a:t>/ Gaps </a:t>
            </a:r>
            <a:r>
              <a:rPr lang="en-IN" sz="4000" dirty="0">
                <a:latin typeface="Times New Roman" pitchFamily="18" charset="0"/>
                <a:cs typeface="Times New Roman" pitchFamily="18" charset="0"/>
              </a:rPr>
              <a:t>in Existing </a:t>
            </a:r>
            <a:r>
              <a:rPr lang="en-IN" sz="4000" dirty="0" smtClean="0">
                <a:latin typeface="Times New Roman" pitchFamily="18" charset="0"/>
                <a:cs typeface="Times New Roman" pitchFamily="18" charset="0"/>
              </a:rPr>
              <a:t>Solutions </a:t>
            </a:r>
            <a:r>
              <a:rPr lang="en-IN" sz="3850" dirty="0" smtClean="0">
                <a:latin typeface="Times New Roman" pitchFamily="18" charset="0"/>
                <a:cs typeface="Times New Roman" pitchFamily="18" charset="0"/>
              </a:rPr>
              <a:t>:</a:t>
            </a:r>
            <a:endParaRPr lang="en-IN" sz="3850" dirty="0">
              <a:latin typeface="Times New Roman" pitchFamily="18" charset="0"/>
              <a:cs typeface="Times New Roman" pitchFamily="18" charset="0"/>
            </a:endParaRPr>
          </a:p>
        </p:txBody>
      </p:sp>
      <p:sp>
        <p:nvSpPr>
          <p:cNvPr id="24" name="TextBox 23"/>
          <p:cNvSpPr txBox="1"/>
          <p:nvPr/>
        </p:nvSpPr>
        <p:spPr>
          <a:xfrm>
            <a:off x="990600" y="2857500"/>
            <a:ext cx="8991600" cy="4524315"/>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Most existing mental health solutions rely on self-assessments or clinical consultations, which usually identify issues only after they become serious. People often overlook early warning signs or avoid seeking help due to stigma. Many apps require manual input instead of passively tracking behavioral changes like sleep, activity, or phone usage. Limited access to professionals, especially in developing regions, further delays early detection and timely support.</a:t>
            </a:r>
            <a:endParaRPr lang="en-IN" sz="3200" dirty="0">
              <a:latin typeface="Times New Roman" pitchFamily="18" charset="0"/>
              <a:cs typeface="Times New Roman" pitchFamily="18" charset="0"/>
            </a:endParaRPr>
          </a:p>
        </p:txBody>
      </p:sp>
      <p:pic>
        <p:nvPicPr>
          <p:cNvPr id="26" name="Picture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25200" y="1878200"/>
            <a:ext cx="6477000" cy="7456300"/>
          </a:xfrm>
          <a:prstGeom prst="rect">
            <a:avLst/>
          </a:prstGeom>
        </p:spPr>
      </p:pic>
    </p:spTree>
    <p:extLst>
      <p:ext uri="{BB962C8B-B14F-4D97-AF65-F5344CB8AC3E}">
        <p14:creationId xmlns:p14="http://schemas.microsoft.com/office/powerpoint/2010/main" val="3216674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824122" y="853661"/>
            <a:ext cx="6639756" cy="564322"/>
          </a:xfrm>
          <a:prstGeom prst="rect">
            <a:avLst/>
          </a:prstGeom>
        </p:spPr>
        <p:txBody>
          <a:bodyPr wrap="square" lIns="0" tIns="0" rIns="0" bIns="0" rtlCol="0" anchor="t">
            <a:spAutoFit/>
          </a:bodyPr>
          <a:lstStyle/>
          <a:p>
            <a:pPr algn="ctr">
              <a:lnSpc>
                <a:spcPts val="4297"/>
              </a:lnSpc>
            </a:pPr>
            <a:r>
              <a:rPr lang="en-US" sz="4800" b="1" dirty="0">
                <a:solidFill>
                  <a:srgbClr val="000000"/>
                </a:solidFill>
                <a:latin typeface="Modern No. 20" pitchFamily="18" charset="0"/>
                <a:ea typeface="Mokoto"/>
                <a:cs typeface="Mokoto"/>
                <a:sym typeface="Mokoto"/>
              </a:rPr>
              <a:t>PROPOSED SOLUTION</a:t>
            </a:r>
          </a:p>
        </p:txBody>
      </p:sp>
      <p:sp>
        <p:nvSpPr>
          <p:cNvPr id="4" name="Freeform 4"/>
          <p:cNvSpPr/>
          <p:nvPr/>
        </p:nvSpPr>
        <p:spPr>
          <a:xfrm>
            <a:off x="0" y="1562100"/>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174276" y="1562100"/>
            <a:ext cx="17656524" cy="7617470"/>
          </a:xfrm>
          <a:prstGeom prst="rect">
            <a:avLst/>
          </a:prstGeom>
        </p:spPr>
        <p:txBody>
          <a:bodyPr wrap="square" lIns="0" tIns="0" rIns="0" bIns="0" rtlCol="0" anchor="t">
            <a:spAutoFit/>
          </a:bodyPr>
          <a:lstStyle/>
          <a:p>
            <a:pPr marL="836905" lvl="1" indent="-418453" algn="just">
              <a:lnSpc>
                <a:spcPts val="5426"/>
              </a:lnSpc>
              <a:buFont typeface="Arial"/>
              <a:buChar char="•"/>
            </a:pPr>
            <a:r>
              <a:rPr lang="en-US" sz="4000" b="1" dirty="0">
                <a:solidFill>
                  <a:srgbClr val="000000"/>
                </a:solidFill>
                <a:latin typeface="Times New Roman" pitchFamily="18" charset="0"/>
                <a:ea typeface="Cormorant Garamond Bold"/>
                <a:cs typeface="Times New Roman" pitchFamily="18" charset="0"/>
                <a:sym typeface="Cormorant Garamond Bold"/>
              </a:rPr>
              <a:t>Idea</a:t>
            </a:r>
            <a:r>
              <a:rPr lang="en-US" sz="3850" b="1" dirty="0">
                <a:solidFill>
                  <a:srgbClr val="000000"/>
                </a:solidFill>
                <a:latin typeface="Times New Roman" pitchFamily="18" charset="0"/>
                <a:ea typeface="Cormorant Garamond Bold"/>
                <a:cs typeface="Times New Roman" pitchFamily="18" charset="0"/>
                <a:sym typeface="Cormorant Garamond Bold"/>
              </a:rPr>
              <a:t> : </a:t>
            </a:r>
            <a:r>
              <a:rPr lang="en-US" sz="3200" dirty="0">
                <a:solidFill>
                  <a:srgbClr val="000000"/>
                </a:solidFill>
                <a:latin typeface="Times New Roman" pitchFamily="18" charset="0"/>
                <a:ea typeface="Cormorant Garamond Bold"/>
                <a:cs typeface="Times New Roman" pitchFamily="18" charset="0"/>
                <a:sym typeface="Cormorant Garamond Bold"/>
              </a:rPr>
              <a:t>We propose an AI-based system that analyzes passive behavioral data such as sleep patterns, activity levels, social interaction, and phone usage to identify early signs of stress-related depression. The model generates a risk score and provides timely alerts and guidance, enabling early support before the condition becomes severe. </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836905" lvl="1" indent="-418453" algn="just">
              <a:lnSpc>
                <a:spcPts val="5426"/>
              </a:lnSpc>
              <a:buFont typeface="Arial"/>
              <a:buChar char="•"/>
            </a:pPr>
            <a:r>
              <a:rPr lang="en-US" sz="4000" b="1" dirty="0" smtClean="0">
                <a:solidFill>
                  <a:srgbClr val="000000"/>
                </a:solidFill>
                <a:latin typeface="Times New Roman" pitchFamily="18" charset="0"/>
                <a:ea typeface="Cormorant Garamond Bold"/>
                <a:cs typeface="Times New Roman" pitchFamily="18" charset="0"/>
                <a:sym typeface="Cormorant Garamond Bold"/>
              </a:rPr>
              <a:t>Solution </a:t>
            </a:r>
            <a:r>
              <a:rPr lang="en-US" sz="4000" b="1" dirty="0">
                <a:solidFill>
                  <a:srgbClr val="000000"/>
                </a:solidFill>
                <a:latin typeface="Times New Roman" pitchFamily="18" charset="0"/>
                <a:ea typeface="Cormorant Garamond Bold"/>
                <a:cs typeface="Times New Roman" pitchFamily="18" charset="0"/>
                <a:sym typeface="Cormorant Garamond Bold"/>
              </a:rPr>
              <a:t>to the problem </a:t>
            </a:r>
            <a:r>
              <a:rPr lang="en-US" sz="3876" b="1"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We propose an AI-based system that passively monitors sleep, HRV, activity, and phone usage to detect early signs of stress and depression. It uses machine learning to assess risk levels and provides personalized wellness guidance for timely intervention</a:t>
            </a:r>
            <a:r>
              <a:rPr lang="en-US" sz="3200" b="1" dirty="0" smtClean="0">
                <a:solidFill>
                  <a:srgbClr val="000000"/>
                </a:solidFill>
                <a:latin typeface="Times New Roman" pitchFamily="18" charset="0"/>
                <a:ea typeface="Cormorant Garamond Bold"/>
                <a:cs typeface="Times New Roman" pitchFamily="18" charset="0"/>
                <a:sym typeface="Cormorant Garamond Bold"/>
              </a:rPr>
              <a:t>.</a:t>
            </a:r>
            <a:endParaRPr lang="en-US" sz="3200" b="1" dirty="0" smtClean="0">
              <a:solidFill>
                <a:srgbClr val="000000"/>
              </a:solidFill>
              <a:latin typeface="Times New Roman" pitchFamily="18" charset="0"/>
              <a:ea typeface="Cormorant Garamond Bold"/>
              <a:cs typeface="Times New Roman" pitchFamily="18" charset="0"/>
              <a:sym typeface="Cormorant Garamond Bold"/>
            </a:endParaRPr>
          </a:p>
          <a:p>
            <a:pPr marL="836905" lvl="1" indent="-418453" algn="just">
              <a:lnSpc>
                <a:spcPts val="5426"/>
              </a:lnSpc>
              <a:buFont typeface="Arial"/>
              <a:buChar char="•"/>
            </a:pPr>
            <a:r>
              <a:rPr lang="en-US" sz="4000" b="1" dirty="0" smtClean="0">
                <a:solidFill>
                  <a:srgbClr val="000000"/>
                </a:solidFill>
                <a:latin typeface="Times New Roman" pitchFamily="18" charset="0"/>
                <a:ea typeface="Cormorant Garamond Bold"/>
                <a:cs typeface="Times New Roman" pitchFamily="18" charset="0"/>
                <a:sym typeface="Cormorant Garamond Bold"/>
              </a:rPr>
              <a:t>Key features </a:t>
            </a:r>
            <a:r>
              <a:rPr lang="en-US" sz="3876" b="1" dirty="0" smtClean="0">
                <a:solidFill>
                  <a:srgbClr val="000000"/>
                </a:solidFill>
                <a:latin typeface="Times New Roman" pitchFamily="18" charset="0"/>
                <a:ea typeface="Cormorant Garamond Bold"/>
                <a:cs typeface="Times New Roman" pitchFamily="18" charset="0"/>
                <a:sym typeface="Cormorant Garamond Bold"/>
              </a:rPr>
              <a:t>: 1. </a:t>
            </a:r>
            <a:r>
              <a:rPr lang="en-US" sz="3200" dirty="0">
                <a:solidFill>
                  <a:srgbClr val="000000"/>
                </a:solidFill>
                <a:latin typeface="Times New Roman" pitchFamily="18" charset="0"/>
                <a:ea typeface="Cormorant Garamond Bold"/>
                <a:cs typeface="Times New Roman" pitchFamily="18" charset="0"/>
                <a:sym typeface="Cormorant Garamond Bold"/>
              </a:rPr>
              <a:t>Passive Data </a:t>
            </a:r>
            <a:r>
              <a:rPr lang="en-US" sz="3200" dirty="0" smtClean="0">
                <a:solidFill>
                  <a:srgbClr val="000000"/>
                </a:solidFill>
                <a:latin typeface="Times New Roman" pitchFamily="18" charset="0"/>
                <a:ea typeface="Cormorant Garamond Bold"/>
                <a:cs typeface="Times New Roman" pitchFamily="18" charset="0"/>
                <a:sym typeface="Cormorant Garamond Bold"/>
              </a:rPr>
              <a:t>Monitoring                           5</a:t>
            </a:r>
            <a:r>
              <a:rPr lang="en-US" sz="3200" dirty="0">
                <a:solidFill>
                  <a:srgbClr val="000000"/>
                </a:solidFill>
                <a:latin typeface="Times New Roman" pitchFamily="18" charset="0"/>
                <a:ea typeface="Cormorant Garamond Bold"/>
                <a:cs typeface="Times New Roman" pitchFamily="18" charset="0"/>
                <a:sym typeface="Cormorant Garamond Bold"/>
              </a:rPr>
              <a:t>. Personalized Wellness Guidance</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418452" lvl="1" algn="just">
              <a:lnSpc>
                <a:spcPts val="5426"/>
              </a:lnSpc>
            </a:pPr>
            <a:r>
              <a:rPr lang="en-US" sz="3200"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2. Personalized Baseline </a:t>
            </a:r>
            <a:r>
              <a:rPr lang="en-US" sz="3200" dirty="0" smtClean="0">
                <a:solidFill>
                  <a:srgbClr val="000000"/>
                </a:solidFill>
                <a:latin typeface="Times New Roman" pitchFamily="18" charset="0"/>
                <a:ea typeface="Cormorant Garamond Bold"/>
                <a:cs typeface="Times New Roman" pitchFamily="18" charset="0"/>
                <a:sym typeface="Cormorant Garamond Bold"/>
              </a:rPr>
              <a:t>Modeling                6</a:t>
            </a:r>
            <a:r>
              <a:rPr lang="en-US" sz="3200" dirty="0">
                <a:solidFill>
                  <a:srgbClr val="000000"/>
                </a:solidFill>
                <a:latin typeface="Times New Roman" pitchFamily="18" charset="0"/>
                <a:ea typeface="Cormorant Garamond Bold"/>
                <a:cs typeface="Times New Roman" pitchFamily="18" charset="0"/>
                <a:sym typeface="Cormorant Garamond Bold"/>
              </a:rPr>
              <a:t>. Early Intervention Alerts</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418452" lvl="1" algn="just">
              <a:lnSpc>
                <a:spcPts val="5426"/>
              </a:lnSpc>
            </a:pPr>
            <a:r>
              <a:rPr lang="en-US" sz="3200" dirty="0" smtClean="0">
                <a:solidFill>
                  <a:srgbClr val="000000"/>
                </a:solidFill>
                <a:latin typeface="Times New Roman" pitchFamily="18" charset="0"/>
                <a:ea typeface="Cormorant Garamond Bold"/>
                <a:cs typeface="Times New Roman" pitchFamily="18" charset="0"/>
                <a:sym typeface="Cormorant Garamond Bold"/>
              </a:rPr>
              <a:t>                                 3. AI-Based Prediction Engine                       7</a:t>
            </a:r>
            <a:r>
              <a:rPr lang="en-US" sz="3200" dirty="0">
                <a:solidFill>
                  <a:srgbClr val="000000"/>
                </a:solidFill>
                <a:latin typeface="Times New Roman" pitchFamily="18" charset="0"/>
                <a:ea typeface="Cormorant Garamond Bold"/>
                <a:cs typeface="Times New Roman" pitchFamily="18" charset="0"/>
                <a:sym typeface="Cormorant Garamond Bold"/>
              </a:rPr>
              <a:t>. AI Insights </a:t>
            </a:r>
            <a:r>
              <a:rPr lang="en-US" sz="3200" dirty="0" smtClean="0">
                <a:solidFill>
                  <a:srgbClr val="000000"/>
                </a:solidFill>
                <a:latin typeface="Times New Roman" pitchFamily="18" charset="0"/>
                <a:ea typeface="Cormorant Garamond Bold"/>
                <a:cs typeface="Times New Roman" pitchFamily="18" charset="0"/>
                <a:sym typeface="Cormorant Garamond Bold"/>
              </a:rPr>
              <a:t>Panel</a:t>
            </a:r>
          </a:p>
          <a:p>
            <a:pPr marL="418452" lvl="1" algn="just">
              <a:lnSpc>
                <a:spcPts val="5426"/>
              </a:lnSpc>
            </a:pPr>
            <a:r>
              <a:rPr lang="en-US" sz="3200" dirty="0">
                <a:solidFill>
                  <a:srgbClr val="000000"/>
                </a:solidFill>
                <a:latin typeface="Times New Roman" pitchFamily="18" charset="0"/>
                <a:ea typeface="Cormorant Garamond Bold"/>
                <a:cs typeface="Times New Roman" pitchFamily="18" charset="0"/>
                <a:sym typeface="Cormorant Garamond Bold"/>
              </a:rPr>
              <a:t> </a:t>
            </a:r>
            <a:r>
              <a:rPr lang="en-US" sz="3200" dirty="0" smtClean="0">
                <a:solidFill>
                  <a:srgbClr val="000000"/>
                </a:solidFill>
                <a:latin typeface="Times New Roman" pitchFamily="18" charset="0"/>
                <a:ea typeface="Cormorant Garamond Bold"/>
                <a:cs typeface="Times New Roman" pitchFamily="18" charset="0"/>
                <a:sym typeface="Cormorant Garamond Bold"/>
              </a:rPr>
              <a:t>                                4. Risk Classification </a:t>
            </a:r>
            <a:r>
              <a:rPr lang="en-US" sz="3200" dirty="0" smtClean="0">
                <a:solidFill>
                  <a:srgbClr val="000000"/>
                </a:solidFill>
                <a:latin typeface="Times New Roman" pitchFamily="18" charset="0"/>
                <a:ea typeface="Cormorant Garamond Bold"/>
                <a:cs typeface="Times New Roman" pitchFamily="18" charset="0"/>
                <a:sym typeface="Cormorant Garamond Bold"/>
              </a:rPr>
              <a:t>System</a:t>
            </a:r>
          </a:p>
        </p:txBody>
      </p:sp>
      <p:sp>
        <p:nvSpPr>
          <p:cNvPr id="6" name="TextBox 6"/>
          <p:cNvSpPr txBox="1"/>
          <p:nvPr/>
        </p:nvSpPr>
        <p:spPr>
          <a:xfrm>
            <a:off x="306102" y="76288"/>
            <a:ext cx="3656297" cy="1295226"/>
          </a:xfrm>
          <a:prstGeom prst="rect">
            <a:avLst/>
          </a:prstGeom>
        </p:spPr>
        <p:txBody>
          <a:bodyPr wrap="square" lIns="0" tIns="0" rIns="0" bIns="0" rtlCol="0" anchor="t">
            <a:spAutoFit/>
          </a:bodyPr>
          <a:lstStyle/>
          <a:p>
            <a:pPr algn="ctr">
              <a:lnSpc>
                <a:spcPts val="5971"/>
              </a:lnSpc>
            </a:pPr>
            <a:endParaRPr lang="en-US" sz="4265" b="1" dirty="0">
              <a:solidFill>
                <a:srgbClr val="000000"/>
              </a:solidFill>
              <a:latin typeface="Cormorant Garamond Bold"/>
              <a:ea typeface="Cormorant Garamond Bold"/>
              <a:cs typeface="Cormorant Garamond Bold"/>
              <a:sym typeface="Cormorant Garamond Bold"/>
            </a:endParaRPr>
          </a:p>
          <a:p>
            <a:pPr algn="ctr">
              <a:lnSpc>
                <a:spcPts val="4143"/>
              </a:lnSpc>
              <a:spcBef>
                <a:spcPct val="0"/>
              </a:spcBef>
            </a:pPr>
            <a:endParaRPr lang="en-US" sz="4270" b="1" dirty="0">
              <a:solidFill>
                <a:srgbClr val="000000"/>
              </a:solidFill>
              <a:latin typeface="Cormorant Garamond Bold"/>
              <a:ea typeface="Cormorant Garamond Bold"/>
              <a:cs typeface="Cormorant Garamond Bold"/>
              <a:sym typeface="Cormorant Garamond Bold"/>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p:cNvSpPr/>
          <p:nvPr/>
        </p:nvSpPr>
        <p:spPr>
          <a:xfrm>
            <a:off x="0" y="1485900"/>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3" name="TextBox 2"/>
          <p:cNvSpPr txBox="1"/>
          <p:nvPr/>
        </p:nvSpPr>
        <p:spPr>
          <a:xfrm>
            <a:off x="4953000" y="647700"/>
            <a:ext cx="7086600" cy="1107996"/>
          </a:xfrm>
          <a:prstGeom prst="rect">
            <a:avLst/>
          </a:prstGeom>
          <a:noFill/>
        </p:spPr>
        <p:txBody>
          <a:bodyPr wrap="square" rtlCol="0">
            <a:spAutoFit/>
          </a:bodyPr>
          <a:lstStyle/>
          <a:p>
            <a:pPr algn="ctr"/>
            <a:r>
              <a:rPr lang="en-US" sz="4800" b="1" dirty="0">
                <a:solidFill>
                  <a:srgbClr val="000000"/>
                </a:solidFill>
                <a:latin typeface="Modern No. 20" pitchFamily="18" charset="0"/>
                <a:ea typeface="Mokoto"/>
                <a:cs typeface="Mokoto"/>
                <a:sym typeface="Mokoto"/>
              </a:rPr>
              <a:t>PROPOSED SOLUTION</a:t>
            </a:r>
          </a:p>
          <a:p>
            <a:pPr algn="ctr"/>
            <a:endParaRPr lang="en-IN"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0" y="1866900"/>
            <a:ext cx="8915400" cy="7342989"/>
          </a:xfrm>
          <a:prstGeom prst="rect">
            <a:avLst/>
          </a:prstGeom>
        </p:spPr>
      </p:pic>
      <p:sp>
        <p:nvSpPr>
          <p:cNvPr id="5" name="TextBox 4"/>
          <p:cNvSpPr txBox="1"/>
          <p:nvPr/>
        </p:nvSpPr>
        <p:spPr>
          <a:xfrm>
            <a:off x="152400" y="1607808"/>
            <a:ext cx="8458200" cy="7602081"/>
          </a:xfrm>
          <a:prstGeom prst="rect">
            <a:avLst/>
          </a:prstGeom>
          <a:noFill/>
        </p:spPr>
        <p:txBody>
          <a:bodyPr wrap="square" rtlCol="0">
            <a:spAutoFit/>
          </a:bodyPr>
          <a:lstStyle/>
          <a:p>
            <a:r>
              <a:rPr lang="en-US" sz="4000" b="1" dirty="0">
                <a:latin typeface="Times New Roman" pitchFamily="18" charset="0"/>
                <a:cs typeface="Times New Roman" pitchFamily="18" charset="0"/>
              </a:rPr>
              <a:t>Data </a:t>
            </a:r>
            <a:r>
              <a:rPr lang="en-US" sz="4000" b="1" dirty="0" smtClean="0">
                <a:latin typeface="Times New Roman" pitchFamily="18" charset="0"/>
                <a:cs typeface="Times New Roman" pitchFamily="18" charset="0"/>
              </a:rPr>
              <a:t>Collection</a:t>
            </a:r>
          </a:p>
          <a:p>
            <a:r>
              <a:rPr lang="en-US" sz="3200" dirty="0" smtClean="0">
                <a:latin typeface="Times New Roman" pitchFamily="18" charset="0"/>
                <a:cs typeface="Times New Roman" pitchFamily="18" charset="0"/>
              </a:rPr>
              <a:t>Passive data like sleep, screen time, and activity is collected from users.</a:t>
            </a:r>
          </a:p>
          <a:p>
            <a:r>
              <a:rPr lang="en-US" sz="4000" b="1" dirty="0" smtClean="0">
                <a:latin typeface="Times New Roman" pitchFamily="18" charset="0"/>
                <a:cs typeface="Times New Roman" pitchFamily="18" charset="0"/>
              </a:rPr>
              <a:t>Data Processing</a:t>
            </a:r>
          </a:p>
          <a:p>
            <a:r>
              <a:rPr lang="en-US" sz="3200" dirty="0" smtClean="0">
                <a:latin typeface="Times New Roman" pitchFamily="18" charset="0"/>
                <a:cs typeface="Times New Roman" pitchFamily="18" charset="0"/>
              </a:rPr>
              <a:t>Raw data is cleaned and prepared for analysis.</a:t>
            </a:r>
          </a:p>
          <a:p>
            <a:r>
              <a:rPr lang="en-US" sz="4000" b="1" dirty="0" smtClean="0">
                <a:latin typeface="Times New Roman" pitchFamily="18" charset="0"/>
                <a:cs typeface="Times New Roman" pitchFamily="18" charset="0"/>
              </a:rPr>
              <a:t>Feature Analysis</a:t>
            </a:r>
          </a:p>
          <a:p>
            <a:r>
              <a:rPr lang="en-US" sz="3200" dirty="0" smtClean="0">
                <a:latin typeface="Times New Roman" pitchFamily="18" charset="0"/>
                <a:cs typeface="Times New Roman" pitchFamily="18" charset="0"/>
              </a:rPr>
              <a:t>Important patterns are identified from the processed data.</a:t>
            </a:r>
          </a:p>
          <a:p>
            <a:r>
              <a:rPr lang="en-US" sz="4000" b="1" dirty="0" smtClean="0">
                <a:latin typeface="Times New Roman" pitchFamily="18" charset="0"/>
                <a:cs typeface="Times New Roman" pitchFamily="18" charset="0"/>
              </a:rPr>
              <a:t>Machine Learning Model</a:t>
            </a:r>
          </a:p>
          <a:p>
            <a:r>
              <a:rPr lang="en-US" sz="3200" dirty="0" smtClean="0">
                <a:latin typeface="Times New Roman" pitchFamily="18" charset="0"/>
                <a:cs typeface="Times New Roman" pitchFamily="18" charset="0"/>
              </a:rPr>
              <a:t>Random Forest algorithm predicts the depression risk level.</a:t>
            </a:r>
          </a:p>
          <a:p>
            <a:r>
              <a:rPr lang="en-US" sz="4000" b="1" dirty="0" smtClean="0">
                <a:latin typeface="Times New Roman" pitchFamily="18" charset="0"/>
                <a:cs typeface="Times New Roman" pitchFamily="18" charset="0"/>
              </a:rPr>
              <a:t>Result Display</a:t>
            </a:r>
          </a:p>
          <a:p>
            <a:r>
              <a:rPr lang="en-US" sz="3200" dirty="0" smtClean="0">
                <a:latin typeface="Times New Roman" pitchFamily="18" charset="0"/>
                <a:cs typeface="Times New Roman" pitchFamily="18" charset="0"/>
              </a:rPr>
              <a:t>Output is shown as Low, Medium, or High risk on a dashboard.</a:t>
            </a:r>
            <a:endParaRPr lang="en-IN" sz="3200" dirty="0">
              <a:latin typeface="Times New Roman" pitchFamily="18" charset="0"/>
              <a:cs typeface="Times New Roman" pitchFamily="18" charset="0"/>
            </a:endParaRPr>
          </a:p>
        </p:txBody>
      </p:sp>
    </p:spTree>
    <p:extLst>
      <p:ext uri="{BB962C8B-B14F-4D97-AF65-F5344CB8AC3E}">
        <p14:creationId xmlns:p14="http://schemas.microsoft.com/office/powerpoint/2010/main" val="3307862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116300" y="511431"/>
            <a:ext cx="8055401" cy="1048429"/>
          </a:xfrm>
          <a:prstGeom prst="rect">
            <a:avLst/>
          </a:prstGeom>
        </p:spPr>
        <p:txBody>
          <a:bodyPr lIns="0" tIns="0" rIns="0" bIns="0" rtlCol="0" anchor="t">
            <a:spAutoFit/>
          </a:bodyPr>
          <a:lstStyle/>
          <a:p>
            <a:pPr algn="ctr">
              <a:lnSpc>
                <a:spcPts val="4024"/>
              </a:lnSpc>
            </a:pPr>
            <a:r>
              <a:rPr lang="en-US" sz="4800" b="1" dirty="0">
                <a:solidFill>
                  <a:srgbClr val="000000"/>
                </a:solidFill>
                <a:latin typeface="Modern No. 20" pitchFamily="18" charset="0"/>
                <a:ea typeface="Mokoto"/>
                <a:cs typeface="Mokoto"/>
                <a:sym typeface="Mokoto"/>
              </a:rPr>
              <a:t>TECHNICAL IMPLEMENTATION</a:t>
            </a:r>
          </a:p>
        </p:txBody>
      </p:sp>
      <p:sp>
        <p:nvSpPr>
          <p:cNvPr id="4" name="Freeform 4"/>
          <p:cNvSpPr/>
          <p:nvPr/>
        </p:nvSpPr>
        <p:spPr>
          <a:xfrm>
            <a:off x="0" y="1559860"/>
            <a:ext cx="18288000" cy="45719"/>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0" y="1931930"/>
            <a:ext cx="18132664" cy="8309967"/>
          </a:xfrm>
          <a:prstGeom prst="rect">
            <a:avLst/>
          </a:prstGeom>
        </p:spPr>
        <p:txBody>
          <a:bodyPr wrap="square" lIns="0" tIns="0" rIns="0" bIns="0" rtlCol="0" anchor="t">
            <a:spAutoFit/>
          </a:bodyPr>
          <a:lstStyle/>
          <a:p>
            <a:pPr marL="933377" lvl="1" indent="-514350">
              <a:lnSpc>
                <a:spcPts val="5434"/>
              </a:lnSpc>
              <a:buAutoNum type="arabicPeriod"/>
            </a:pPr>
            <a:r>
              <a:rPr lang="en-US" sz="4000" b="1" dirty="0" smtClean="0">
                <a:solidFill>
                  <a:srgbClr val="000000"/>
                </a:solidFill>
                <a:latin typeface="Times New Roman" pitchFamily="18" charset="0"/>
                <a:ea typeface="Cormorant Garamond Bold"/>
                <a:cs typeface="Times New Roman" pitchFamily="18" charset="0"/>
                <a:sym typeface="Cormorant Garamond Bold"/>
              </a:rPr>
              <a:t>PROGRAMMING </a:t>
            </a:r>
            <a:r>
              <a:rPr lang="en-US" sz="4000" b="1" dirty="0">
                <a:solidFill>
                  <a:srgbClr val="000000"/>
                </a:solidFill>
                <a:latin typeface="Times New Roman" pitchFamily="18" charset="0"/>
                <a:ea typeface="Cormorant Garamond Bold"/>
                <a:cs typeface="Times New Roman" pitchFamily="18" charset="0"/>
                <a:sym typeface="Cormorant Garamond Bold"/>
              </a:rPr>
              <a:t>LANGUAGES USED</a:t>
            </a:r>
            <a:endParaRPr lang="en-US" sz="4000" b="1" dirty="0" smtClean="0">
              <a:solidFill>
                <a:srgbClr val="000000"/>
              </a:solidFill>
              <a:latin typeface="Times New Roman" pitchFamily="18" charset="0"/>
              <a:ea typeface="Cormorant Garamond Bold"/>
              <a:cs typeface="Times New Roman" pitchFamily="18" charset="0"/>
              <a:sym typeface="Cormorant Garamond Bold"/>
            </a:endParaRPr>
          </a:p>
          <a:p>
            <a:pPr marL="419027" lvl="1">
              <a:lnSpc>
                <a:spcPts val="5434"/>
              </a:lnSpc>
            </a:pPr>
            <a:r>
              <a:rPr lang="en-US" sz="3200" dirty="0">
                <a:solidFill>
                  <a:srgbClr val="000000"/>
                </a:solidFill>
                <a:latin typeface="Times New Roman" pitchFamily="18" charset="0"/>
                <a:ea typeface="Cormorant Garamond Bold"/>
                <a:cs typeface="Times New Roman" pitchFamily="18" charset="0"/>
                <a:sym typeface="Cormorant Garamond Bold"/>
              </a:rPr>
              <a:t>Python </a:t>
            </a:r>
            <a:r>
              <a:rPr lang="en-US" sz="3200"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Backend &amp; Machine </a:t>
            </a:r>
            <a:r>
              <a:rPr lang="en-US" sz="3200" dirty="0" smtClean="0">
                <a:solidFill>
                  <a:srgbClr val="000000"/>
                </a:solidFill>
                <a:latin typeface="Times New Roman" pitchFamily="18" charset="0"/>
                <a:ea typeface="Cormorant Garamond Bold"/>
                <a:cs typeface="Times New Roman" pitchFamily="18" charset="0"/>
                <a:sym typeface="Cormorant Garamond Bold"/>
              </a:rPr>
              <a:t>Learning                       CSS  </a:t>
            </a:r>
            <a:r>
              <a:rPr lang="en-US" sz="3200" dirty="0">
                <a:solidFill>
                  <a:srgbClr val="000000"/>
                </a:solidFill>
                <a:latin typeface="Times New Roman" pitchFamily="18" charset="0"/>
                <a:ea typeface="Cormorant Garamond Bold"/>
                <a:cs typeface="Times New Roman" pitchFamily="18" charset="0"/>
                <a:sym typeface="Cormorant Garamond Bold"/>
              </a:rPr>
              <a:t>→ Styling and UI </a:t>
            </a:r>
            <a:r>
              <a:rPr lang="en-US" sz="3200" dirty="0" smtClean="0">
                <a:solidFill>
                  <a:srgbClr val="000000"/>
                </a:solidFill>
                <a:latin typeface="Times New Roman" pitchFamily="18" charset="0"/>
                <a:ea typeface="Cormorant Garamond Bold"/>
                <a:cs typeface="Times New Roman" pitchFamily="18" charset="0"/>
                <a:sym typeface="Cormorant Garamond Bold"/>
              </a:rPr>
              <a:t>design</a:t>
            </a:r>
          </a:p>
          <a:p>
            <a:pPr marL="419027" lvl="1">
              <a:lnSpc>
                <a:spcPts val="5434"/>
              </a:lnSpc>
            </a:pPr>
            <a:r>
              <a:rPr lang="en-US" sz="3200" dirty="0" smtClean="0">
                <a:solidFill>
                  <a:srgbClr val="000000"/>
                </a:solidFill>
                <a:latin typeface="Times New Roman" pitchFamily="18" charset="0"/>
                <a:ea typeface="Cormorant Garamond Bold"/>
                <a:cs typeface="Times New Roman" pitchFamily="18" charset="0"/>
                <a:sym typeface="Cormorant Garamond Bold"/>
              </a:rPr>
              <a:t>JavaScript → </a:t>
            </a:r>
            <a:r>
              <a:rPr lang="en-US" sz="3200" dirty="0">
                <a:solidFill>
                  <a:srgbClr val="000000"/>
                </a:solidFill>
                <a:latin typeface="Times New Roman" pitchFamily="18" charset="0"/>
                <a:ea typeface="Cormorant Garamond Bold"/>
                <a:cs typeface="Times New Roman" pitchFamily="18" charset="0"/>
                <a:sym typeface="Cormorant Garamond Bold"/>
              </a:rPr>
              <a:t>Frontend logic &amp; </a:t>
            </a:r>
            <a:r>
              <a:rPr lang="en-US" sz="3200" dirty="0" smtClean="0">
                <a:solidFill>
                  <a:srgbClr val="000000"/>
                </a:solidFill>
                <a:latin typeface="Times New Roman" pitchFamily="18" charset="0"/>
                <a:ea typeface="Cormorant Garamond Bold"/>
                <a:cs typeface="Times New Roman" pitchFamily="18" charset="0"/>
                <a:sym typeface="Cormorant Garamond Bold"/>
              </a:rPr>
              <a:t>interaction</a:t>
            </a:r>
            <a:r>
              <a:rPr lang="en-US" sz="3200" dirty="0">
                <a:solidFill>
                  <a:srgbClr val="000000"/>
                </a:solidFill>
                <a:latin typeface="Times New Roman" pitchFamily="18" charset="0"/>
                <a:ea typeface="Cormorant Garamond Bold"/>
                <a:cs typeface="Times New Roman" pitchFamily="18" charset="0"/>
                <a:sym typeface="Cormorant Garamond Bold"/>
              </a:rPr>
              <a:t> </a:t>
            </a:r>
            <a:r>
              <a:rPr lang="en-US" sz="3200" dirty="0" smtClean="0">
                <a:solidFill>
                  <a:srgbClr val="000000"/>
                </a:solidFill>
                <a:latin typeface="Times New Roman" pitchFamily="18" charset="0"/>
                <a:ea typeface="Cormorant Garamond Bold"/>
                <a:cs typeface="Times New Roman" pitchFamily="18" charset="0"/>
                <a:sym typeface="Cormorant Garamond Bold"/>
              </a:rPr>
              <a:t>                   HTML </a:t>
            </a:r>
            <a:r>
              <a:rPr lang="en-US" sz="3200" dirty="0">
                <a:solidFill>
                  <a:srgbClr val="000000"/>
                </a:solidFill>
                <a:latin typeface="Times New Roman" pitchFamily="18" charset="0"/>
                <a:ea typeface="Cormorant Garamond Bold"/>
                <a:cs typeface="Times New Roman" pitchFamily="18" charset="0"/>
                <a:sym typeface="Cormorant Garamond Bold"/>
              </a:rPr>
              <a:t>→ Structure of web pages</a:t>
            </a:r>
          </a:p>
          <a:p>
            <a:pPr marL="419027" lvl="1">
              <a:lnSpc>
                <a:spcPts val="5434"/>
              </a:lnSpc>
            </a:pPr>
            <a:r>
              <a:rPr lang="en-US" sz="3200" b="1" dirty="0" smtClean="0">
                <a:solidFill>
                  <a:srgbClr val="000000"/>
                </a:solidFill>
                <a:latin typeface="Times New Roman" pitchFamily="18" charset="0"/>
                <a:ea typeface="Cormorant Garamond Bold"/>
                <a:cs typeface="Times New Roman" pitchFamily="18" charset="0"/>
                <a:sym typeface="Cormorant Garamond Bold"/>
              </a:rPr>
              <a:t>2</a:t>
            </a:r>
            <a:r>
              <a:rPr lang="en-US" sz="3200" b="1" dirty="0" smtClean="0">
                <a:solidFill>
                  <a:srgbClr val="000000"/>
                </a:solidFill>
                <a:latin typeface="Times New Roman" pitchFamily="18" charset="0"/>
                <a:ea typeface="Cormorant Garamond Bold"/>
                <a:cs typeface="Times New Roman" pitchFamily="18" charset="0"/>
                <a:sym typeface="Cormorant Garamond Bold"/>
              </a:rPr>
              <a:t>.  </a:t>
            </a:r>
            <a:r>
              <a:rPr lang="en-US" sz="4000" b="1" dirty="0">
                <a:solidFill>
                  <a:srgbClr val="000000"/>
                </a:solidFill>
                <a:latin typeface="Times New Roman" pitchFamily="18" charset="0"/>
                <a:ea typeface="Cormorant Garamond Bold"/>
                <a:cs typeface="Times New Roman" pitchFamily="18" charset="0"/>
                <a:sym typeface="Cormorant Garamond Bold"/>
              </a:rPr>
              <a:t>FRAMEWORKS / </a:t>
            </a:r>
            <a:r>
              <a:rPr lang="en-US" sz="4000" b="1" dirty="0" smtClean="0">
                <a:solidFill>
                  <a:srgbClr val="000000"/>
                </a:solidFill>
                <a:latin typeface="Times New Roman" pitchFamily="18" charset="0"/>
                <a:ea typeface="Cormorant Garamond Bold"/>
                <a:cs typeface="Times New Roman" pitchFamily="18" charset="0"/>
                <a:sym typeface="Cormorant Garamond Bold"/>
              </a:rPr>
              <a:t>LIBRARIES</a:t>
            </a:r>
          </a:p>
          <a:p>
            <a:pPr marL="876227" lvl="1" indent="-457200">
              <a:lnSpc>
                <a:spcPts val="5434"/>
              </a:lnSpc>
              <a:buFont typeface="Arial" pitchFamily="34" charset="0"/>
              <a:buChar char="•"/>
            </a:pPr>
            <a:r>
              <a:rPr lang="en-US" sz="3200" dirty="0" err="1" smtClean="0">
                <a:solidFill>
                  <a:srgbClr val="000000"/>
                </a:solidFill>
                <a:latin typeface="Times New Roman" pitchFamily="18" charset="0"/>
                <a:ea typeface="Cormorant Garamond Bold"/>
                <a:cs typeface="Times New Roman" pitchFamily="18" charset="0"/>
                <a:sym typeface="Cormorant Garamond Bold"/>
              </a:rPr>
              <a:t>BackendFlask</a:t>
            </a:r>
            <a:r>
              <a:rPr lang="en-US" sz="3200"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 Web framework to create </a:t>
            </a:r>
            <a:r>
              <a:rPr lang="en-US" sz="3200" dirty="0" smtClean="0">
                <a:solidFill>
                  <a:srgbClr val="000000"/>
                </a:solidFill>
                <a:latin typeface="Times New Roman" pitchFamily="18" charset="0"/>
                <a:ea typeface="Cormorant Garamond Bold"/>
                <a:cs typeface="Times New Roman" pitchFamily="18" charset="0"/>
                <a:sym typeface="Cormorant Garamond Bold"/>
              </a:rPr>
              <a:t>API </a:t>
            </a:r>
          </a:p>
          <a:p>
            <a:pPr marL="876227" lvl="1" indent="-457200">
              <a:lnSpc>
                <a:spcPts val="5434"/>
              </a:lnSpc>
              <a:buFont typeface="Arial" pitchFamily="34" charset="0"/>
              <a:buChar char="•"/>
            </a:pPr>
            <a:r>
              <a:rPr lang="en-US" sz="3200" dirty="0" smtClean="0">
                <a:solidFill>
                  <a:srgbClr val="000000"/>
                </a:solidFill>
                <a:latin typeface="Times New Roman" pitchFamily="18" charset="0"/>
                <a:ea typeface="Cormorant Garamond Bold"/>
                <a:cs typeface="Times New Roman" pitchFamily="18" charset="0"/>
                <a:sym typeface="Cormorant Garamond Bold"/>
              </a:rPr>
              <a:t>Machine </a:t>
            </a:r>
            <a:r>
              <a:rPr lang="en-US" sz="3200" dirty="0" err="1">
                <a:solidFill>
                  <a:srgbClr val="000000"/>
                </a:solidFill>
                <a:latin typeface="Times New Roman" pitchFamily="18" charset="0"/>
                <a:ea typeface="Cormorant Garamond Bold"/>
                <a:cs typeface="Times New Roman" pitchFamily="18" charset="0"/>
                <a:sym typeface="Cormorant Garamond Bold"/>
              </a:rPr>
              <a:t>LearningScikit</a:t>
            </a:r>
            <a:r>
              <a:rPr lang="en-US" sz="3200" dirty="0">
                <a:solidFill>
                  <a:srgbClr val="000000"/>
                </a:solidFill>
                <a:latin typeface="Times New Roman" pitchFamily="18" charset="0"/>
                <a:ea typeface="Cormorant Garamond Bold"/>
                <a:cs typeface="Times New Roman" pitchFamily="18" charset="0"/>
                <a:sym typeface="Cormorant Garamond Bold"/>
              </a:rPr>
              <a:t>-learn → Model training (Random Forest</a:t>
            </a:r>
            <a:r>
              <a:rPr lang="en-US" sz="3200" dirty="0" smtClean="0">
                <a:solidFill>
                  <a:srgbClr val="000000"/>
                </a:solidFill>
                <a:latin typeface="Times New Roman" pitchFamily="18" charset="0"/>
                <a:ea typeface="Cormorant Garamond Bold"/>
                <a:cs typeface="Times New Roman" pitchFamily="18" charset="0"/>
                <a:sym typeface="Cormorant Garamond Bold"/>
              </a:rPr>
              <a:t>)</a:t>
            </a:r>
          </a:p>
          <a:p>
            <a:pPr marL="876227" lvl="1" indent="-457200">
              <a:lnSpc>
                <a:spcPts val="5434"/>
              </a:lnSpc>
              <a:buFont typeface="Arial" pitchFamily="34" charset="0"/>
              <a:buChar char="•"/>
            </a:pPr>
            <a:r>
              <a:rPr lang="en-US" sz="3200" dirty="0" smtClean="0">
                <a:solidFill>
                  <a:srgbClr val="000000"/>
                </a:solidFill>
                <a:latin typeface="Times New Roman" pitchFamily="18" charset="0"/>
                <a:ea typeface="Cormorant Garamond Bold"/>
                <a:cs typeface="Times New Roman" pitchFamily="18" charset="0"/>
                <a:sym typeface="Cormorant Garamond Bold"/>
              </a:rPr>
              <a:t>Pandas </a:t>
            </a:r>
            <a:r>
              <a:rPr lang="en-US" sz="3200" dirty="0">
                <a:solidFill>
                  <a:srgbClr val="000000"/>
                </a:solidFill>
                <a:latin typeface="Times New Roman" pitchFamily="18" charset="0"/>
                <a:ea typeface="Cormorant Garamond Bold"/>
                <a:cs typeface="Times New Roman" pitchFamily="18" charset="0"/>
                <a:sym typeface="Cormorant Garamond Bold"/>
              </a:rPr>
              <a:t>→ Data </a:t>
            </a:r>
            <a:r>
              <a:rPr lang="en-US" sz="3200" dirty="0" err="1">
                <a:solidFill>
                  <a:srgbClr val="000000"/>
                </a:solidFill>
                <a:latin typeface="Times New Roman" pitchFamily="18" charset="0"/>
                <a:ea typeface="Cormorant Garamond Bold"/>
                <a:cs typeface="Times New Roman" pitchFamily="18" charset="0"/>
                <a:sym typeface="Cormorant Garamond Bold"/>
              </a:rPr>
              <a:t>handlingNumPy</a:t>
            </a:r>
            <a:r>
              <a:rPr lang="en-US" sz="3200" dirty="0">
                <a:solidFill>
                  <a:srgbClr val="000000"/>
                </a:solidFill>
                <a:latin typeface="Times New Roman" pitchFamily="18" charset="0"/>
                <a:ea typeface="Cormorant Garamond Bold"/>
                <a:cs typeface="Times New Roman" pitchFamily="18" charset="0"/>
                <a:sym typeface="Cormorant Garamond Bold"/>
              </a:rPr>
              <a:t> → Numerical </a:t>
            </a:r>
            <a:r>
              <a:rPr lang="en-US" sz="3200" dirty="0" smtClean="0">
                <a:solidFill>
                  <a:srgbClr val="000000"/>
                </a:solidFill>
                <a:latin typeface="Times New Roman" pitchFamily="18" charset="0"/>
                <a:ea typeface="Cormorant Garamond Bold"/>
                <a:cs typeface="Times New Roman" pitchFamily="18" charset="0"/>
                <a:sym typeface="Cormorant Garamond Bold"/>
              </a:rPr>
              <a:t>operations</a:t>
            </a:r>
          </a:p>
          <a:p>
            <a:pPr marL="876227" lvl="1" indent="-457200">
              <a:lnSpc>
                <a:spcPts val="5434"/>
              </a:lnSpc>
              <a:buFont typeface="Arial" pitchFamily="34" charset="0"/>
              <a:buChar char="•"/>
            </a:pPr>
            <a:r>
              <a:rPr lang="en-US" sz="3200" dirty="0" smtClean="0">
                <a:solidFill>
                  <a:srgbClr val="000000"/>
                </a:solidFill>
                <a:latin typeface="Times New Roman" pitchFamily="18" charset="0"/>
                <a:ea typeface="Cormorant Garamond Bold"/>
                <a:cs typeface="Times New Roman" pitchFamily="18" charset="0"/>
                <a:sym typeface="Cormorant Garamond Bold"/>
              </a:rPr>
              <a:t> </a:t>
            </a:r>
            <a:r>
              <a:rPr lang="en-US" sz="3200" dirty="0">
                <a:solidFill>
                  <a:srgbClr val="000000"/>
                </a:solidFill>
                <a:latin typeface="Times New Roman" pitchFamily="18" charset="0"/>
                <a:ea typeface="Cormorant Garamond Bold"/>
                <a:cs typeface="Times New Roman" pitchFamily="18" charset="0"/>
                <a:sym typeface="Cormorant Garamond Bold"/>
              </a:rPr>
              <a:t>FrontendChart.js → Dashboard graphs </a:t>
            </a:r>
            <a:endParaRPr lang="en-US" sz="3200" dirty="0" smtClean="0">
              <a:solidFill>
                <a:srgbClr val="000000"/>
              </a:solidFill>
              <a:latin typeface="Times New Roman" pitchFamily="18" charset="0"/>
              <a:ea typeface="Cormorant Garamond Bold"/>
              <a:cs typeface="Times New Roman" pitchFamily="18" charset="0"/>
              <a:sym typeface="Cormorant Garamond Bold"/>
            </a:endParaRPr>
          </a:p>
          <a:p>
            <a:pPr marL="419027" lvl="1">
              <a:lnSpc>
                <a:spcPts val="5434"/>
              </a:lnSpc>
            </a:pPr>
            <a:r>
              <a:rPr lang="en-US" sz="3200" b="1" dirty="0">
                <a:solidFill>
                  <a:prstClr val="black"/>
                </a:solidFill>
                <a:latin typeface="Times New Roman" pitchFamily="18" charset="0"/>
                <a:cs typeface="Times New Roman" pitchFamily="18" charset="0"/>
              </a:rPr>
              <a:t>3. </a:t>
            </a:r>
            <a:r>
              <a:rPr lang="en-US" sz="4000" b="1" dirty="0">
                <a:solidFill>
                  <a:prstClr val="black"/>
                </a:solidFill>
                <a:latin typeface="Times New Roman" pitchFamily="18" charset="0"/>
                <a:cs typeface="Times New Roman" pitchFamily="18" charset="0"/>
              </a:rPr>
              <a:t>DATABASE USED </a:t>
            </a:r>
            <a:r>
              <a:rPr lang="en-US" sz="3200" b="1" dirty="0">
                <a:solidFill>
                  <a:prstClr val="black"/>
                </a:solidFill>
                <a:latin typeface="Times New Roman" pitchFamily="18" charset="0"/>
                <a:cs typeface="Times New Roman" pitchFamily="18" charset="0"/>
              </a:rPr>
              <a:t>: </a:t>
            </a:r>
            <a:r>
              <a:rPr lang="en-US" sz="3200" dirty="0">
                <a:solidFill>
                  <a:prstClr val="black"/>
                </a:solidFill>
                <a:latin typeface="Times New Roman" pitchFamily="18" charset="0"/>
                <a:cs typeface="Times New Roman" pitchFamily="18" charset="0"/>
              </a:rPr>
              <a:t>CSV file used as dataset </a:t>
            </a:r>
            <a:endParaRPr lang="en-US" sz="3200" dirty="0" smtClean="0">
              <a:solidFill>
                <a:prstClr val="black"/>
              </a:solidFill>
              <a:latin typeface="Times New Roman" pitchFamily="18" charset="0"/>
              <a:cs typeface="Times New Roman" pitchFamily="18" charset="0"/>
            </a:endParaRPr>
          </a:p>
          <a:p>
            <a:pPr marL="419027" lvl="1">
              <a:lnSpc>
                <a:spcPts val="5434"/>
              </a:lnSpc>
            </a:pPr>
            <a:r>
              <a:rPr lang="en-IN" sz="3200" b="1" dirty="0">
                <a:latin typeface="Times New Roman" pitchFamily="18" charset="0"/>
                <a:cs typeface="Times New Roman" pitchFamily="18" charset="0"/>
              </a:rPr>
              <a:t>4. </a:t>
            </a:r>
            <a:r>
              <a:rPr lang="en-IN" sz="4000" b="1" dirty="0">
                <a:latin typeface="Times New Roman" pitchFamily="18" charset="0"/>
                <a:cs typeface="Times New Roman" pitchFamily="18" charset="0"/>
              </a:rPr>
              <a:t>APIs </a:t>
            </a:r>
            <a:r>
              <a:rPr lang="en-IN" sz="3200" b="1" dirty="0" smtClean="0">
                <a:latin typeface="Times New Roman" pitchFamily="18" charset="0"/>
                <a:cs typeface="Times New Roman" pitchFamily="18" charset="0"/>
              </a:rPr>
              <a:t>: </a:t>
            </a:r>
            <a:r>
              <a:rPr lang="en-IN" sz="3200" dirty="0" err="1">
                <a:latin typeface="Times New Roman" pitchFamily="18" charset="0"/>
                <a:cs typeface="Times New Roman" pitchFamily="18" charset="0"/>
              </a:rPr>
              <a:t>APIsFlask</a:t>
            </a:r>
            <a:r>
              <a:rPr lang="en-IN" sz="3200" dirty="0">
                <a:latin typeface="Times New Roman" pitchFamily="18" charset="0"/>
                <a:cs typeface="Times New Roman" pitchFamily="18" charset="0"/>
              </a:rPr>
              <a:t> REST API (/predict) for </a:t>
            </a:r>
            <a:r>
              <a:rPr lang="en-IN" sz="3200" dirty="0" smtClean="0">
                <a:latin typeface="Times New Roman" pitchFamily="18" charset="0"/>
                <a:cs typeface="Times New Roman" pitchFamily="18" charset="0"/>
              </a:rPr>
              <a:t>communication</a:t>
            </a:r>
          </a:p>
          <a:p>
            <a:pPr marL="876227" lvl="1" indent="-457200">
              <a:lnSpc>
                <a:spcPts val="5434"/>
              </a:lnSpc>
              <a:buFont typeface="Arial" pitchFamily="34" charset="0"/>
              <a:buChar char="•"/>
            </a:pPr>
            <a:r>
              <a:rPr lang="en-IN" sz="3200" dirty="0" err="1">
                <a:latin typeface="Times New Roman" pitchFamily="18" charset="0"/>
                <a:cs typeface="Times New Roman" pitchFamily="18" charset="0"/>
              </a:rPr>
              <a:t>ToolsVS</a:t>
            </a:r>
            <a:r>
              <a:rPr lang="en-IN" sz="3200" dirty="0">
                <a:latin typeface="Times New Roman" pitchFamily="18" charset="0"/>
                <a:cs typeface="Times New Roman" pitchFamily="18" charset="0"/>
              </a:rPr>
              <a:t> Code → </a:t>
            </a:r>
            <a:r>
              <a:rPr lang="en-IN" sz="3200" dirty="0" err="1">
                <a:latin typeface="Times New Roman" pitchFamily="18" charset="0"/>
                <a:cs typeface="Times New Roman" pitchFamily="18" charset="0"/>
              </a:rPr>
              <a:t>DevelopmentPython</a:t>
            </a:r>
            <a:r>
              <a:rPr lang="en-IN" sz="3200" dirty="0">
                <a:latin typeface="Times New Roman" pitchFamily="18" charset="0"/>
                <a:cs typeface="Times New Roman" pitchFamily="18" charset="0"/>
              </a:rPr>
              <a:t> → </a:t>
            </a:r>
            <a:r>
              <a:rPr lang="en-IN" sz="3200" dirty="0" smtClean="0">
                <a:latin typeface="Times New Roman" pitchFamily="18" charset="0"/>
                <a:cs typeface="Times New Roman" pitchFamily="18" charset="0"/>
              </a:rPr>
              <a:t>Execution</a:t>
            </a:r>
          </a:p>
          <a:p>
            <a:pPr marL="876227" lvl="1" indent="-457200">
              <a:lnSpc>
                <a:spcPts val="5434"/>
              </a:lnSpc>
              <a:buFont typeface="Arial" pitchFamily="34" charset="0"/>
              <a:buChar char="•"/>
            </a:pPr>
            <a:r>
              <a:rPr lang="en-IN" sz="3200" dirty="0" err="1">
                <a:latin typeface="Times New Roman" pitchFamily="18" charset="0"/>
                <a:cs typeface="Times New Roman" pitchFamily="18" charset="0"/>
              </a:rPr>
              <a:t>PlatformsWeb</a:t>
            </a:r>
            <a:r>
              <a:rPr lang="en-IN" sz="3200" dirty="0">
                <a:latin typeface="Times New Roman" pitchFamily="18" charset="0"/>
                <a:cs typeface="Times New Roman" pitchFamily="18" charset="0"/>
              </a:rPr>
              <a:t> browser (Chrome/Edge)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4"/>
          <p:cNvSpPr/>
          <p:nvPr/>
        </p:nvSpPr>
        <p:spPr>
          <a:xfrm>
            <a:off x="0" y="1562100"/>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9" name="TextBox 8"/>
          <p:cNvSpPr txBox="1"/>
          <p:nvPr/>
        </p:nvSpPr>
        <p:spPr>
          <a:xfrm>
            <a:off x="4775200" y="384601"/>
            <a:ext cx="7620000" cy="830997"/>
          </a:xfrm>
          <a:prstGeom prst="rect">
            <a:avLst/>
          </a:prstGeom>
          <a:noFill/>
        </p:spPr>
        <p:txBody>
          <a:bodyPr wrap="square" rtlCol="0">
            <a:spAutoFit/>
          </a:bodyPr>
          <a:lstStyle/>
          <a:p>
            <a:pPr algn="ctr"/>
            <a:r>
              <a:rPr lang="en-IN" sz="4800" b="1" dirty="0">
                <a:latin typeface="Modern No. 20" pitchFamily="18" charset="0"/>
              </a:rPr>
              <a:t>System Architecture</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20600" y="2388951"/>
            <a:ext cx="5867400" cy="7882913"/>
          </a:xfrm>
          <a:prstGeom prst="rect">
            <a:avLst/>
          </a:prstGeom>
        </p:spPr>
      </p:pic>
      <p:sp>
        <p:nvSpPr>
          <p:cNvPr id="12" name="TextBox 11"/>
          <p:cNvSpPr txBox="1"/>
          <p:nvPr/>
        </p:nvSpPr>
        <p:spPr>
          <a:xfrm>
            <a:off x="152400" y="1606491"/>
            <a:ext cx="4800600" cy="8340745"/>
          </a:xfrm>
          <a:prstGeom prst="rect">
            <a:avLst/>
          </a:prstGeom>
          <a:noFill/>
        </p:spPr>
        <p:txBody>
          <a:bodyPr wrap="square" rtlCol="0">
            <a:spAutoFit/>
          </a:bodyPr>
          <a:lstStyle/>
          <a:p>
            <a:r>
              <a:rPr lang="en-IN" sz="3600" b="1" dirty="0">
                <a:latin typeface="Times New Roman" pitchFamily="18" charset="0"/>
                <a:cs typeface="Times New Roman" pitchFamily="18" charset="0"/>
              </a:rPr>
              <a:t>Client (Entry Point</a:t>
            </a:r>
            <a:r>
              <a:rPr lang="en-IN" sz="3600" b="1" dirty="0" smtClean="0">
                <a:latin typeface="Times New Roman" pitchFamily="18" charset="0"/>
                <a:cs typeface="Times New Roman" pitchFamily="18" charset="0"/>
              </a:rPr>
              <a:t>)</a:t>
            </a:r>
          </a:p>
          <a:p>
            <a:pPr marL="457200" indent="-457200">
              <a:buFont typeface="Arial" pitchFamily="34" charset="0"/>
              <a:buChar char="•"/>
            </a:pPr>
            <a:r>
              <a:rPr lang="en-IN" sz="3200" dirty="0" smtClean="0">
                <a:latin typeface="Times New Roman" pitchFamily="18" charset="0"/>
                <a:cs typeface="Times New Roman" pitchFamily="18" charset="0"/>
              </a:rPr>
              <a:t>Sends </a:t>
            </a:r>
            <a:r>
              <a:rPr lang="en-IN" sz="3200" dirty="0">
                <a:latin typeface="Times New Roman" pitchFamily="18" charset="0"/>
                <a:cs typeface="Times New Roman" pitchFamily="18" charset="0"/>
              </a:rPr>
              <a:t>input </a:t>
            </a:r>
            <a:r>
              <a:rPr lang="en-IN" sz="3200" dirty="0" smtClean="0">
                <a:latin typeface="Times New Roman" pitchFamily="18" charset="0"/>
                <a:cs typeface="Times New Roman" pitchFamily="18" charset="0"/>
              </a:rPr>
              <a:t>data</a:t>
            </a:r>
          </a:p>
          <a:p>
            <a:pPr marL="457200" indent="-457200">
              <a:buFont typeface="Arial" pitchFamily="34" charset="0"/>
              <a:buChar char="•"/>
            </a:pPr>
            <a:r>
              <a:rPr lang="en-IN" sz="3200" dirty="0" smtClean="0">
                <a:latin typeface="Times New Roman" pitchFamily="18" charset="0"/>
                <a:cs typeface="Times New Roman" pitchFamily="18" charset="0"/>
              </a:rPr>
              <a:t>Receives predictions</a:t>
            </a:r>
          </a:p>
          <a:p>
            <a:r>
              <a:rPr lang="en-IN" sz="3600" b="1" dirty="0" smtClean="0">
                <a:latin typeface="Times New Roman" pitchFamily="18" charset="0"/>
                <a:cs typeface="Times New Roman" pitchFamily="18" charset="0"/>
              </a:rPr>
              <a:t>Front-End</a:t>
            </a:r>
          </a:p>
          <a:p>
            <a:pPr marL="457200" indent="-457200">
              <a:buFont typeface="Arial" pitchFamily="34" charset="0"/>
              <a:buChar char="•"/>
            </a:pPr>
            <a:r>
              <a:rPr lang="en-IN" sz="3200" dirty="0" smtClean="0">
                <a:latin typeface="Times New Roman" pitchFamily="18" charset="0"/>
                <a:cs typeface="Times New Roman" pitchFamily="18" charset="0"/>
              </a:rPr>
              <a:t>Collects input</a:t>
            </a:r>
          </a:p>
          <a:p>
            <a:pPr marL="457200" indent="-457200">
              <a:buFont typeface="Arial" pitchFamily="34" charset="0"/>
              <a:buChar char="•"/>
            </a:pPr>
            <a:r>
              <a:rPr lang="en-IN" sz="3200" dirty="0" smtClean="0">
                <a:latin typeface="Times New Roman" pitchFamily="18" charset="0"/>
                <a:cs typeface="Times New Roman" pitchFamily="18" charset="0"/>
              </a:rPr>
              <a:t>Displays results</a:t>
            </a:r>
          </a:p>
          <a:p>
            <a:r>
              <a:rPr lang="en-IN" sz="3600" b="1" dirty="0" smtClean="0">
                <a:latin typeface="Times New Roman" pitchFamily="18" charset="0"/>
                <a:cs typeface="Times New Roman" pitchFamily="18" charset="0"/>
              </a:rPr>
              <a:t>Orchestrator</a:t>
            </a:r>
          </a:p>
          <a:p>
            <a:pPr marL="457200" indent="-457200">
              <a:buFont typeface="Arial" pitchFamily="34" charset="0"/>
              <a:buChar char="•"/>
            </a:pPr>
            <a:r>
              <a:rPr lang="en-IN" sz="3200" dirty="0" smtClean="0">
                <a:latin typeface="Times New Roman" pitchFamily="18" charset="0"/>
                <a:cs typeface="Times New Roman" pitchFamily="18" charset="0"/>
              </a:rPr>
              <a:t>Controls workflow</a:t>
            </a:r>
          </a:p>
          <a:p>
            <a:pPr marL="457200" indent="-457200">
              <a:buFont typeface="Arial" pitchFamily="34" charset="0"/>
              <a:buChar char="•"/>
            </a:pPr>
            <a:r>
              <a:rPr lang="en-IN" sz="3200" dirty="0" smtClean="0">
                <a:latin typeface="Times New Roman" pitchFamily="18" charset="0"/>
                <a:cs typeface="Times New Roman" pitchFamily="18" charset="0"/>
              </a:rPr>
              <a:t>Manages </a:t>
            </a:r>
            <a:r>
              <a:rPr lang="en-IN" sz="3200" dirty="0">
                <a:latin typeface="Times New Roman" pitchFamily="18" charset="0"/>
                <a:cs typeface="Times New Roman" pitchFamily="18" charset="0"/>
              </a:rPr>
              <a:t>data </a:t>
            </a:r>
            <a:r>
              <a:rPr lang="en-IN" sz="3200" dirty="0" smtClean="0">
                <a:latin typeface="Times New Roman" pitchFamily="18" charset="0"/>
                <a:cs typeface="Times New Roman" pitchFamily="18" charset="0"/>
              </a:rPr>
              <a:t>flow</a:t>
            </a:r>
          </a:p>
          <a:p>
            <a:r>
              <a:rPr lang="en-IN" sz="3600" b="1" dirty="0" smtClean="0">
                <a:latin typeface="Times New Roman" pitchFamily="18" charset="0"/>
                <a:cs typeface="Times New Roman" pitchFamily="18" charset="0"/>
              </a:rPr>
              <a:t>Databases</a:t>
            </a:r>
          </a:p>
          <a:p>
            <a:pPr marL="457200" indent="-457200">
              <a:buFont typeface="Arial" pitchFamily="34" charset="0"/>
              <a:buChar char="•"/>
            </a:pPr>
            <a:r>
              <a:rPr lang="en-IN" sz="3200" dirty="0" smtClean="0">
                <a:latin typeface="Times New Roman" pitchFamily="18" charset="0"/>
                <a:cs typeface="Times New Roman" pitchFamily="18" charset="0"/>
              </a:rPr>
              <a:t>Stores data</a:t>
            </a:r>
          </a:p>
          <a:p>
            <a:pPr marL="457200" indent="-457200">
              <a:buFont typeface="Arial" pitchFamily="34" charset="0"/>
              <a:buChar char="•"/>
            </a:pPr>
            <a:r>
              <a:rPr lang="en-IN" sz="3200" dirty="0" smtClean="0">
                <a:latin typeface="Times New Roman" pitchFamily="18" charset="0"/>
                <a:cs typeface="Times New Roman" pitchFamily="18" charset="0"/>
              </a:rPr>
              <a:t>Maintains records</a:t>
            </a:r>
          </a:p>
          <a:p>
            <a:r>
              <a:rPr lang="en-IN" sz="3600" b="1" dirty="0" smtClean="0">
                <a:latin typeface="Times New Roman" pitchFamily="18" charset="0"/>
                <a:cs typeface="Times New Roman" pitchFamily="18" charset="0"/>
              </a:rPr>
              <a:t>Ground-Truth Collector</a:t>
            </a:r>
          </a:p>
          <a:p>
            <a:pPr marL="457200" indent="-457200">
              <a:buFont typeface="Arial" pitchFamily="34" charset="0"/>
              <a:buChar char="•"/>
            </a:pPr>
            <a:r>
              <a:rPr lang="en-IN" sz="3200" dirty="0" smtClean="0">
                <a:latin typeface="Times New Roman" pitchFamily="18" charset="0"/>
                <a:cs typeface="Times New Roman" pitchFamily="18" charset="0"/>
              </a:rPr>
              <a:t>Collects </a:t>
            </a:r>
            <a:r>
              <a:rPr lang="en-IN" sz="3200" dirty="0">
                <a:latin typeface="Times New Roman" pitchFamily="18" charset="0"/>
                <a:cs typeface="Times New Roman" pitchFamily="18" charset="0"/>
              </a:rPr>
              <a:t>actual </a:t>
            </a:r>
            <a:r>
              <a:rPr lang="en-IN" sz="3200" dirty="0" smtClean="0">
                <a:latin typeface="Times New Roman" pitchFamily="18" charset="0"/>
                <a:cs typeface="Times New Roman" pitchFamily="18" charset="0"/>
              </a:rPr>
              <a:t>outcomes</a:t>
            </a:r>
          </a:p>
          <a:p>
            <a:pPr marL="457200" indent="-457200">
              <a:buFont typeface="Arial" pitchFamily="34" charset="0"/>
              <a:buChar char="•"/>
            </a:pPr>
            <a:r>
              <a:rPr lang="en-IN" sz="3200" dirty="0" smtClean="0">
                <a:latin typeface="Times New Roman" pitchFamily="18" charset="0"/>
                <a:cs typeface="Times New Roman" pitchFamily="18" charset="0"/>
              </a:rPr>
              <a:t>Improves accuracy</a:t>
            </a:r>
          </a:p>
        </p:txBody>
      </p:sp>
      <p:sp>
        <p:nvSpPr>
          <p:cNvPr id="13" name="TextBox 12"/>
          <p:cNvSpPr txBox="1"/>
          <p:nvPr/>
        </p:nvSpPr>
        <p:spPr>
          <a:xfrm>
            <a:off x="5261428" y="1606491"/>
            <a:ext cx="6400800" cy="8125301"/>
          </a:xfrm>
          <a:prstGeom prst="rect">
            <a:avLst/>
          </a:prstGeom>
          <a:noFill/>
        </p:spPr>
        <p:txBody>
          <a:bodyPr wrap="square" rtlCol="0">
            <a:spAutoFit/>
          </a:bodyPr>
          <a:lstStyle/>
          <a:p>
            <a:r>
              <a:rPr lang="en-IN" sz="3600" b="1" dirty="0">
                <a:latin typeface="Times New Roman" pitchFamily="18" charset="0"/>
                <a:cs typeface="Times New Roman" pitchFamily="18" charset="0"/>
              </a:rPr>
              <a:t>Data </a:t>
            </a:r>
            <a:r>
              <a:rPr lang="en-IN" sz="3600" b="1" dirty="0" smtClean="0">
                <a:latin typeface="Times New Roman" pitchFamily="18" charset="0"/>
                <a:cs typeface="Times New Roman" pitchFamily="18" charset="0"/>
              </a:rPr>
              <a:t>Labeller</a:t>
            </a:r>
          </a:p>
          <a:p>
            <a:pPr marL="457200" indent="-457200">
              <a:buFont typeface="Arial" pitchFamily="34" charset="0"/>
              <a:buChar char="•"/>
            </a:pPr>
            <a:r>
              <a:rPr lang="en-IN" sz="3200" dirty="0" smtClean="0">
                <a:latin typeface="Times New Roman" pitchFamily="18" charset="0"/>
                <a:cs typeface="Times New Roman" pitchFamily="18" charset="0"/>
              </a:rPr>
              <a:t>Labels </a:t>
            </a:r>
            <a:r>
              <a:rPr lang="en-IN" sz="3200" dirty="0">
                <a:latin typeface="Times New Roman" pitchFamily="18" charset="0"/>
                <a:cs typeface="Times New Roman" pitchFamily="18" charset="0"/>
              </a:rPr>
              <a:t>raw </a:t>
            </a:r>
            <a:r>
              <a:rPr lang="en-IN" sz="3200" dirty="0" smtClean="0">
                <a:latin typeface="Times New Roman" pitchFamily="18" charset="0"/>
                <a:cs typeface="Times New Roman" pitchFamily="18" charset="0"/>
              </a:rPr>
              <a:t>data</a:t>
            </a:r>
          </a:p>
          <a:p>
            <a:r>
              <a:rPr lang="en-IN" sz="3600" b="1" dirty="0" err="1" smtClean="0">
                <a:latin typeface="Times New Roman" pitchFamily="18" charset="0"/>
                <a:cs typeface="Times New Roman" pitchFamily="18" charset="0"/>
              </a:rPr>
              <a:t>Featuriser</a:t>
            </a:r>
            <a:endParaRPr lang="en-IN" sz="3600" b="1" dirty="0" smtClean="0">
              <a:latin typeface="Times New Roman" pitchFamily="18" charset="0"/>
              <a:cs typeface="Times New Roman" pitchFamily="18" charset="0"/>
            </a:endParaRPr>
          </a:p>
          <a:p>
            <a:pPr marL="457200" indent="-457200">
              <a:buFont typeface="Arial" pitchFamily="34" charset="0"/>
              <a:buChar char="•"/>
            </a:pPr>
            <a:r>
              <a:rPr lang="en-IN" sz="3200" dirty="0">
                <a:latin typeface="Times New Roman" pitchFamily="18" charset="0"/>
                <a:cs typeface="Times New Roman" pitchFamily="18" charset="0"/>
              </a:rPr>
              <a:t>F</a:t>
            </a:r>
            <a:r>
              <a:rPr lang="en-IN" sz="3200" dirty="0" smtClean="0">
                <a:latin typeface="Times New Roman" pitchFamily="18" charset="0"/>
                <a:cs typeface="Times New Roman" pitchFamily="18" charset="0"/>
              </a:rPr>
              <a:t>eatures extraction</a:t>
            </a:r>
          </a:p>
          <a:p>
            <a:r>
              <a:rPr lang="en-IN" sz="3600" b="1" dirty="0" smtClean="0">
                <a:latin typeface="Times New Roman" pitchFamily="18" charset="0"/>
                <a:cs typeface="Times New Roman" pitchFamily="18" charset="0"/>
              </a:rPr>
              <a:t>Model Builder</a:t>
            </a:r>
          </a:p>
          <a:p>
            <a:pPr marL="457200" indent="-457200">
              <a:buFont typeface="Arial" pitchFamily="34" charset="0"/>
              <a:buChar char="•"/>
            </a:pPr>
            <a:r>
              <a:rPr lang="en-IN" sz="3200" dirty="0" smtClean="0">
                <a:latin typeface="Times New Roman" pitchFamily="18" charset="0"/>
                <a:cs typeface="Times New Roman" pitchFamily="18" charset="0"/>
              </a:rPr>
              <a:t>Trains model</a:t>
            </a:r>
          </a:p>
          <a:p>
            <a:pPr marL="457200" indent="-457200">
              <a:buFont typeface="Arial" pitchFamily="34" charset="0"/>
              <a:buChar char="•"/>
            </a:pPr>
            <a:r>
              <a:rPr lang="en-IN" sz="3200" dirty="0" smtClean="0">
                <a:latin typeface="Times New Roman" pitchFamily="18" charset="0"/>
                <a:cs typeface="Times New Roman" pitchFamily="18" charset="0"/>
              </a:rPr>
              <a:t>Optimizes </a:t>
            </a:r>
            <a:r>
              <a:rPr lang="en-IN" sz="3200" dirty="0">
                <a:latin typeface="Times New Roman" pitchFamily="18" charset="0"/>
                <a:cs typeface="Times New Roman" pitchFamily="18" charset="0"/>
              </a:rPr>
              <a:t>performance</a:t>
            </a:r>
          </a:p>
          <a:p>
            <a:r>
              <a:rPr lang="en-IN" sz="3600" b="1" dirty="0" smtClean="0">
                <a:latin typeface="Times New Roman" pitchFamily="18" charset="0"/>
                <a:cs typeface="Times New Roman" pitchFamily="18" charset="0"/>
              </a:rPr>
              <a:t>Evaluator</a:t>
            </a:r>
          </a:p>
          <a:p>
            <a:pPr marL="457200" indent="-457200">
              <a:buFont typeface="Arial" pitchFamily="34" charset="0"/>
              <a:buChar char="•"/>
            </a:pPr>
            <a:r>
              <a:rPr lang="en-IN" sz="3200" dirty="0" smtClean="0">
                <a:latin typeface="Times New Roman" pitchFamily="18" charset="0"/>
                <a:cs typeface="Times New Roman" pitchFamily="18" charset="0"/>
              </a:rPr>
              <a:t>Tests model</a:t>
            </a:r>
          </a:p>
          <a:p>
            <a:r>
              <a:rPr lang="en-IN" sz="3600" b="1" dirty="0" smtClean="0">
                <a:latin typeface="Times New Roman" pitchFamily="18" charset="0"/>
                <a:cs typeface="Times New Roman" pitchFamily="18" charset="0"/>
              </a:rPr>
              <a:t>Server </a:t>
            </a:r>
            <a:r>
              <a:rPr lang="en-IN" sz="3600" b="1" dirty="0">
                <a:latin typeface="Times New Roman" pitchFamily="18" charset="0"/>
                <a:cs typeface="Times New Roman" pitchFamily="18" charset="0"/>
              </a:rPr>
              <a:t>(Models</a:t>
            </a:r>
            <a:r>
              <a:rPr lang="en-IN" sz="3600" b="1" dirty="0" smtClean="0">
                <a:latin typeface="Times New Roman" pitchFamily="18" charset="0"/>
                <a:cs typeface="Times New Roman" pitchFamily="18" charset="0"/>
              </a:rPr>
              <a:t>)</a:t>
            </a:r>
          </a:p>
          <a:p>
            <a:pPr marL="457200" indent="-457200">
              <a:buFont typeface="Arial" pitchFamily="34" charset="0"/>
              <a:buChar char="•"/>
            </a:pPr>
            <a:r>
              <a:rPr lang="en-IN" sz="3200" dirty="0" smtClean="0">
                <a:latin typeface="Times New Roman" pitchFamily="18" charset="0"/>
                <a:cs typeface="Times New Roman" pitchFamily="18" charset="0"/>
              </a:rPr>
              <a:t>Hosts model</a:t>
            </a:r>
          </a:p>
          <a:p>
            <a:pPr marL="457200" indent="-457200">
              <a:buFont typeface="Arial" pitchFamily="34" charset="0"/>
              <a:buChar char="•"/>
            </a:pPr>
            <a:r>
              <a:rPr lang="en-IN" sz="3200" dirty="0" smtClean="0">
                <a:latin typeface="Times New Roman" pitchFamily="18" charset="0"/>
                <a:cs typeface="Times New Roman" pitchFamily="18" charset="0"/>
              </a:rPr>
              <a:t>Gives </a:t>
            </a:r>
            <a:r>
              <a:rPr lang="en-IN" sz="3200" dirty="0">
                <a:latin typeface="Times New Roman" pitchFamily="18" charset="0"/>
                <a:cs typeface="Times New Roman" pitchFamily="18" charset="0"/>
              </a:rPr>
              <a:t>predictions</a:t>
            </a:r>
          </a:p>
          <a:p>
            <a:r>
              <a:rPr lang="en-IN" sz="3600" b="1" dirty="0" smtClean="0">
                <a:latin typeface="Times New Roman" pitchFamily="18" charset="0"/>
                <a:cs typeface="Times New Roman" pitchFamily="18" charset="0"/>
              </a:rPr>
              <a:t>Monitor</a:t>
            </a:r>
          </a:p>
          <a:p>
            <a:pPr marL="457200" indent="-457200">
              <a:buFont typeface="Arial" pitchFamily="34" charset="0"/>
              <a:buChar char="•"/>
            </a:pPr>
            <a:r>
              <a:rPr lang="en-IN" sz="3200" dirty="0" smtClean="0">
                <a:latin typeface="Times New Roman" pitchFamily="18" charset="0"/>
                <a:cs typeface="Times New Roman" pitchFamily="18" charset="0"/>
              </a:rPr>
              <a:t>Tracks performance</a:t>
            </a:r>
          </a:p>
          <a:p>
            <a:pPr marL="457200" indent="-457200">
              <a:buFont typeface="Arial" pitchFamily="34" charset="0"/>
              <a:buChar char="•"/>
            </a:pPr>
            <a:r>
              <a:rPr lang="en-IN" sz="3200" dirty="0" smtClean="0">
                <a:latin typeface="Times New Roman" pitchFamily="18" charset="0"/>
                <a:cs typeface="Times New Roman" pitchFamily="18" charset="0"/>
              </a:rPr>
              <a:t>Detects </a:t>
            </a:r>
            <a:r>
              <a:rPr lang="en-IN" sz="3200" dirty="0">
                <a:latin typeface="Times New Roman" pitchFamily="18" charset="0"/>
                <a:cs typeface="Times New Roman" pitchFamily="18" charset="0"/>
              </a:rPr>
              <a:t>issues</a:t>
            </a:r>
          </a:p>
          <a:p>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p:cNvSpPr/>
          <p:nvPr/>
        </p:nvSpPr>
        <p:spPr>
          <a:xfrm>
            <a:off x="0" y="2319657"/>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
        <p:nvSpPr>
          <p:cNvPr id="4" name="TextBox 3"/>
          <p:cNvSpPr txBox="1"/>
          <p:nvPr/>
        </p:nvSpPr>
        <p:spPr>
          <a:xfrm>
            <a:off x="19957" y="2412537"/>
            <a:ext cx="17983200" cy="7725192"/>
          </a:xfrm>
          <a:prstGeom prst="rect">
            <a:avLst/>
          </a:prstGeom>
          <a:noFill/>
        </p:spPr>
        <p:txBody>
          <a:bodyPr wrap="square" rtlCol="0">
            <a:spAutoFit/>
          </a:bodyPr>
          <a:lstStyle/>
          <a:p>
            <a:r>
              <a:rPr lang="en-US" sz="4000" b="1" dirty="0"/>
              <a:t>Detection + Intervention (Not Just Prediction)Most systems only</a:t>
            </a:r>
            <a:r>
              <a:rPr lang="en-US" dirty="0" smtClean="0"/>
              <a:t>:</a:t>
            </a:r>
          </a:p>
          <a:p>
            <a:pPr marL="342900" indent="-342900">
              <a:buFont typeface="Arial" pitchFamily="34" charset="0"/>
              <a:buChar char="•"/>
            </a:pPr>
            <a:r>
              <a:rPr lang="en-US" sz="3200" dirty="0" smtClean="0"/>
              <a:t>Detect </a:t>
            </a:r>
            <a:r>
              <a:rPr lang="en-US" sz="3200" dirty="0"/>
              <a:t>depression </a:t>
            </a:r>
            <a:r>
              <a:rPr lang="en-US" sz="3200" dirty="0" smtClean="0"/>
              <a:t>risk</a:t>
            </a:r>
          </a:p>
          <a:p>
            <a:pPr marL="342900" indent="-342900">
              <a:buFont typeface="Arial" pitchFamily="34" charset="0"/>
              <a:buChar char="•"/>
            </a:pPr>
            <a:r>
              <a:rPr lang="en-US" sz="3200" dirty="0" smtClean="0"/>
              <a:t>Show result</a:t>
            </a:r>
          </a:p>
          <a:p>
            <a:r>
              <a:rPr lang="en-US" sz="4000" b="1" dirty="0" smtClean="0"/>
              <a:t>Our </a:t>
            </a:r>
            <a:r>
              <a:rPr lang="en-US" sz="4000" b="1" dirty="0"/>
              <a:t>system</a:t>
            </a:r>
            <a:r>
              <a:rPr lang="en-US" sz="4000" b="1" dirty="0" smtClean="0"/>
              <a:t>:</a:t>
            </a:r>
          </a:p>
          <a:p>
            <a:pPr marL="342900" indent="-342900">
              <a:buFont typeface="Arial" pitchFamily="34" charset="0"/>
              <a:buChar char="•"/>
            </a:pPr>
            <a:r>
              <a:rPr lang="en-US" sz="3200" dirty="0" smtClean="0"/>
              <a:t>Detects risk</a:t>
            </a:r>
          </a:p>
          <a:p>
            <a:pPr marL="342900" indent="-342900">
              <a:buFont typeface="Arial" pitchFamily="34" charset="0"/>
              <a:buChar char="•"/>
            </a:pPr>
            <a:r>
              <a:rPr lang="en-US" sz="3200" dirty="0" smtClean="0"/>
              <a:t>Provides </a:t>
            </a:r>
            <a:r>
              <a:rPr lang="en-US" sz="3200" dirty="0"/>
              <a:t>therapy </a:t>
            </a:r>
            <a:r>
              <a:rPr lang="en-US" sz="3200" dirty="0" smtClean="0"/>
              <a:t>suggestions</a:t>
            </a:r>
          </a:p>
          <a:p>
            <a:pPr marL="342900" indent="-342900">
              <a:buFont typeface="Arial" pitchFamily="34" charset="0"/>
              <a:buChar char="•"/>
            </a:pPr>
            <a:r>
              <a:rPr lang="en-US" sz="3200" dirty="0" smtClean="0"/>
              <a:t>Includes </a:t>
            </a:r>
            <a:r>
              <a:rPr lang="en-US" sz="3200" dirty="0"/>
              <a:t>stress-relief </a:t>
            </a:r>
            <a:r>
              <a:rPr lang="en-US" sz="3200" dirty="0" smtClean="0"/>
              <a:t>games</a:t>
            </a:r>
          </a:p>
          <a:p>
            <a:pPr marL="342900" indent="-342900">
              <a:buFont typeface="Arial" pitchFamily="34" charset="0"/>
              <a:buChar char="•"/>
            </a:pPr>
            <a:r>
              <a:rPr lang="en-US" sz="3200" dirty="0" smtClean="0"/>
              <a:t>Offers </a:t>
            </a:r>
            <a:r>
              <a:rPr lang="en-US" sz="3200" dirty="0"/>
              <a:t>motivational </a:t>
            </a:r>
            <a:r>
              <a:rPr lang="en-US" sz="3200" dirty="0" smtClean="0"/>
              <a:t>support</a:t>
            </a:r>
          </a:p>
          <a:p>
            <a:pPr marL="342900" indent="-342900">
              <a:buFont typeface="Arial" pitchFamily="34" charset="0"/>
              <a:buChar char="•"/>
            </a:pPr>
            <a:endParaRPr lang="en-US" sz="2400" dirty="0"/>
          </a:p>
          <a:p>
            <a:r>
              <a:rPr lang="en-IN" sz="4000" b="1" dirty="0"/>
              <a:t>Novel Approach / Creative </a:t>
            </a:r>
            <a:r>
              <a:rPr lang="en-IN" sz="4000" b="1" dirty="0" smtClean="0"/>
              <a:t>Thinking</a:t>
            </a:r>
          </a:p>
          <a:p>
            <a:pPr marL="342900" indent="-342900">
              <a:buFont typeface="Arial" pitchFamily="34" charset="0"/>
              <a:buChar char="•"/>
            </a:pPr>
            <a:r>
              <a:rPr lang="en-US" sz="3200" dirty="0"/>
              <a:t>Uses passive behavioral </a:t>
            </a:r>
            <a:r>
              <a:rPr lang="en-US" sz="3200" dirty="0" smtClean="0"/>
              <a:t>signals</a:t>
            </a:r>
          </a:p>
          <a:p>
            <a:r>
              <a:rPr lang="en-US" sz="3200" dirty="0" smtClean="0"/>
              <a:t>     (</a:t>
            </a:r>
            <a:r>
              <a:rPr lang="en-US" sz="3200" dirty="0"/>
              <a:t>Screen time, sleep, activity, social interaction</a:t>
            </a:r>
            <a:r>
              <a:rPr lang="en-US" sz="3200" dirty="0" smtClean="0"/>
              <a:t>)</a:t>
            </a:r>
          </a:p>
          <a:p>
            <a:pPr marL="342900" indent="-342900">
              <a:buFont typeface="Arial" pitchFamily="34" charset="0"/>
              <a:buChar char="•"/>
            </a:pPr>
            <a:r>
              <a:rPr lang="en-US" sz="3200" dirty="0" smtClean="0"/>
              <a:t>No </a:t>
            </a:r>
            <a:r>
              <a:rPr lang="en-US" sz="3200" dirty="0"/>
              <a:t>complex medical equipment </a:t>
            </a:r>
            <a:r>
              <a:rPr lang="en-US" sz="3200" dirty="0" smtClean="0"/>
              <a:t>required</a:t>
            </a:r>
          </a:p>
          <a:p>
            <a:pPr marL="342900" indent="-342900">
              <a:buFont typeface="Arial" pitchFamily="34" charset="0"/>
              <a:buChar char="•"/>
            </a:pPr>
            <a:r>
              <a:rPr lang="en-US" sz="3200" dirty="0" smtClean="0"/>
              <a:t>Easy-to-use </a:t>
            </a:r>
            <a:r>
              <a:rPr lang="en-US" sz="3200" dirty="0"/>
              <a:t>web </a:t>
            </a:r>
            <a:r>
              <a:rPr lang="en-US" sz="3200" dirty="0" smtClean="0"/>
              <a:t>interface</a:t>
            </a:r>
          </a:p>
          <a:p>
            <a:pPr marL="342900" indent="-342900">
              <a:buFont typeface="Arial" pitchFamily="34" charset="0"/>
              <a:buChar char="•"/>
            </a:pPr>
            <a:r>
              <a:rPr lang="en-US" sz="3200" dirty="0" smtClean="0"/>
              <a:t>Interactive </a:t>
            </a:r>
            <a:r>
              <a:rPr lang="en-US" sz="3200" dirty="0"/>
              <a:t>engagement through games</a:t>
            </a:r>
            <a:endParaRPr lang="en-IN" sz="3200" dirty="0"/>
          </a:p>
        </p:txBody>
      </p:sp>
      <p:sp>
        <p:nvSpPr>
          <p:cNvPr id="5" name="TextBox 4"/>
          <p:cNvSpPr txBox="1"/>
          <p:nvPr/>
        </p:nvSpPr>
        <p:spPr>
          <a:xfrm>
            <a:off x="4038600" y="662187"/>
            <a:ext cx="8915400" cy="830997"/>
          </a:xfrm>
          <a:prstGeom prst="rect">
            <a:avLst/>
          </a:prstGeom>
          <a:noFill/>
        </p:spPr>
        <p:txBody>
          <a:bodyPr wrap="square" rtlCol="0">
            <a:spAutoFit/>
          </a:bodyPr>
          <a:lstStyle/>
          <a:p>
            <a:pPr algn="ctr"/>
            <a:r>
              <a:rPr lang="en-IN" sz="4800" b="1" dirty="0">
                <a:latin typeface="Modern No. 20" pitchFamily="18" charset="0"/>
              </a:rPr>
              <a:t>Innovation &amp; Uniqueness</a:t>
            </a:r>
          </a:p>
        </p:txBody>
      </p:sp>
      <p:sp>
        <p:nvSpPr>
          <p:cNvPr id="28" name="TextBox 27"/>
          <p:cNvSpPr txBox="1"/>
          <p:nvPr/>
        </p:nvSpPr>
        <p:spPr>
          <a:xfrm>
            <a:off x="8207829" y="3009900"/>
            <a:ext cx="9906000" cy="7478970"/>
          </a:xfrm>
          <a:prstGeom prst="rect">
            <a:avLst/>
          </a:prstGeom>
          <a:noFill/>
        </p:spPr>
        <p:txBody>
          <a:bodyPr wrap="square" rtlCol="0">
            <a:spAutoFit/>
          </a:bodyPr>
          <a:lstStyle/>
          <a:p>
            <a:r>
              <a:rPr lang="en-IN" dirty="0"/>
              <a:t>[ </a:t>
            </a:r>
            <a:r>
              <a:rPr lang="en-IN" sz="3200" dirty="0"/>
              <a:t>Passive </a:t>
            </a:r>
            <a:r>
              <a:rPr lang="en-IN" sz="3200" dirty="0" err="1"/>
              <a:t>Behavioral</a:t>
            </a:r>
            <a:r>
              <a:rPr lang="en-IN" sz="3200" dirty="0"/>
              <a:t> Signals ] </a:t>
            </a:r>
            <a:endParaRPr lang="en-IN" sz="3200" dirty="0" smtClean="0"/>
          </a:p>
          <a:p>
            <a:r>
              <a:rPr lang="en-IN" sz="3200" dirty="0" smtClean="0"/>
              <a:t>(</a:t>
            </a:r>
            <a:r>
              <a:rPr lang="en-IN" sz="3200" dirty="0"/>
              <a:t>Sleep | Screen Time | Activity | Social Interaction)                    </a:t>
            </a:r>
            <a:r>
              <a:rPr lang="en-IN" sz="3200" dirty="0" smtClean="0"/>
              <a:t>            ↓       </a:t>
            </a:r>
          </a:p>
          <a:p>
            <a:r>
              <a:rPr lang="en-IN" sz="3200" dirty="0" smtClean="0"/>
              <a:t>  </a:t>
            </a:r>
            <a:r>
              <a:rPr lang="en-IN" sz="3200" dirty="0"/>
              <a:t>[ AI Risk Detection Engine ]   </a:t>
            </a:r>
            <a:endParaRPr lang="en-IN" sz="3200" dirty="0" smtClean="0"/>
          </a:p>
          <a:p>
            <a:r>
              <a:rPr lang="en-IN" sz="3200" dirty="0" smtClean="0"/>
              <a:t>   </a:t>
            </a:r>
            <a:r>
              <a:rPr lang="en-IN" sz="3200" dirty="0"/>
              <a:t>(Baseline Learning + ML Model)                </a:t>
            </a:r>
            <a:endParaRPr lang="en-IN" sz="3200" dirty="0" smtClean="0"/>
          </a:p>
          <a:p>
            <a:r>
              <a:rPr lang="en-IN" sz="3200" dirty="0" smtClean="0"/>
              <a:t>    </a:t>
            </a:r>
            <a:r>
              <a:rPr lang="en-IN" sz="3200" dirty="0"/>
              <a:t>↓        </a:t>
            </a:r>
            <a:endParaRPr lang="en-IN" sz="3200" dirty="0" smtClean="0"/>
          </a:p>
          <a:p>
            <a:r>
              <a:rPr lang="en-IN" sz="3200" dirty="0" smtClean="0"/>
              <a:t> </a:t>
            </a:r>
            <a:r>
              <a:rPr lang="en-IN" sz="3200" dirty="0"/>
              <a:t>[ Depression Risk Level ]            </a:t>
            </a:r>
            <a:endParaRPr lang="en-IN" sz="3200" dirty="0" smtClean="0"/>
          </a:p>
          <a:p>
            <a:r>
              <a:rPr lang="en-IN" sz="3200" dirty="0" smtClean="0"/>
              <a:t> </a:t>
            </a:r>
            <a:r>
              <a:rPr lang="en-IN" sz="3200" dirty="0"/>
              <a:t>(Low / Medium / High)        </a:t>
            </a:r>
            <a:endParaRPr lang="en-IN" sz="3200" dirty="0" smtClean="0"/>
          </a:p>
          <a:p>
            <a:r>
              <a:rPr lang="en-IN" sz="3200" dirty="0" smtClean="0"/>
              <a:t>            </a:t>
            </a:r>
            <a:r>
              <a:rPr lang="en-IN" sz="3200" dirty="0"/>
              <a:t>↓ </a:t>
            </a:r>
            <a:r>
              <a:rPr lang="en-IN" sz="3200" dirty="0" smtClean="0"/>
              <a:t>┌───────────────┬───────────────┬──────────────</a:t>
            </a:r>
          </a:p>
          <a:p>
            <a:endParaRPr lang="en-IN" sz="3200" dirty="0" smtClean="0"/>
          </a:p>
          <a:p>
            <a:r>
              <a:rPr lang="en-IN" sz="3200" dirty="0" smtClean="0"/>
              <a:t>│ </a:t>
            </a:r>
            <a:r>
              <a:rPr lang="en-IN" sz="3200" dirty="0"/>
              <a:t>Therapy       │ Stress Relief │ Motivational  │ </a:t>
            </a:r>
            <a:endParaRPr lang="en-IN" sz="3200" dirty="0" smtClean="0"/>
          </a:p>
          <a:p>
            <a:r>
              <a:rPr lang="en-IN" sz="3200" dirty="0" smtClean="0"/>
              <a:t>│ </a:t>
            </a:r>
            <a:r>
              <a:rPr lang="en-IN" sz="3200" dirty="0"/>
              <a:t>Suggestions   │ Games         │ Support       │ </a:t>
            </a:r>
            <a:r>
              <a:rPr lang="en-IN" sz="3200" dirty="0" smtClean="0"/>
              <a:t>└───────────────┴───────────────┴──────────────            </a:t>
            </a:r>
          </a:p>
          <a:p>
            <a:endParaRPr lang="en-IN" sz="3200" dirty="0"/>
          </a:p>
        </p:txBody>
      </p:sp>
      <p:cxnSp>
        <p:nvCxnSpPr>
          <p:cNvPr id="35" name="Straight Connector 34"/>
          <p:cNvCxnSpPr/>
          <p:nvPr/>
        </p:nvCxnSpPr>
        <p:spPr>
          <a:xfrm>
            <a:off x="11230429" y="9791700"/>
            <a:ext cx="1" cy="2888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8207829" y="10080579"/>
            <a:ext cx="302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207829" y="8191500"/>
            <a:ext cx="28411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11049000" y="8191500"/>
            <a:ext cx="0" cy="152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4862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p:cNvSpPr/>
          <p:nvPr/>
        </p:nvSpPr>
        <p:spPr>
          <a:xfrm>
            <a:off x="0" y="2319657"/>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2"/>
            <a:stretch>
              <a:fillRect/>
            </a:stretch>
          </a:blipFill>
        </p:spPr>
        <p:txBody>
          <a:bodyPr/>
          <a:lstStyle/>
          <a:p>
            <a:endParaRPr lang="en-IN" dirty="0"/>
          </a:p>
        </p:txBody>
      </p:sp>
      <p:sp>
        <p:nvSpPr>
          <p:cNvPr id="3" name="TextBox 2"/>
          <p:cNvSpPr txBox="1"/>
          <p:nvPr/>
        </p:nvSpPr>
        <p:spPr>
          <a:xfrm>
            <a:off x="155121" y="2412537"/>
            <a:ext cx="17977757" cy="8463855"/>
          </a:xfrm>
          <a:prstGeom prst="rect">
            <a:avLst/>
          </a:prstGeom>
          <a:noFill/>
        </p:spPr>
        <p:txBody>
          <a:bodyPr wrap="square" rtlCol="0">
            <a:spAutoFit/>
          </a:bodyPr>
          <a:lstStyle/>
          <a:p>
            <a:r>
              <a:rPr lang="en-IN" sz="4000" b="1" dirty="0" smtClean="0">
                <a:latin typeface="Times New Roman" pitchFamily="18" charset="0"/>
                <a:cs typeface="Times New Roman" pitchFamily="18" charset="0"/>
              </a:rPr>
              <a:t>Technical Innovation</a:t>
            </a:r>
          </a:p>
          <a:p>
            <a:pPr marL="342900" indent="-342900">
              <a:buFont typeface="Arial" pitchFamily="34" charset="0"/>
              <a:buChar char="•"/>
            </a:pPr>
            <a:r>
              <a:rPr lang="en-IN" sz="3200" dirty="0" smtClean="0">
                <a:latin typeface="Times New Roman" pitchFamily="18" charset="0"/>
                <a:cs typeface="Times New Roman" pitchFamily="18" charset="0"/>
              </a:rPr>
              <a:t>Machine Learning model (Random Forest)</a:t>
            </a:r>
          </a:p>
          <a:p>
            <a:pPr marL="342900" indent="-342900">
              <a:buFont typeface="Arial" pitchFamily="34" charset="0"/>
              <a:buChar char="•"/>
            </a:pPr>
            <a:r>
              <a:rPr lang="en-IN" sz="3200" dirty="0" smtClean="0">
                <a:latin typeface="Times New Roman" pitchFamily="18" charset="0"/>
                <a:cs typeface="Times New Roman" pitchFamily="18" charset="0"/>
              </a:rPr>
              <a:t>Real-time API communication (Flask)</a:t>
            </a:r>
          </a:p>
          <a:p>
            <a:pPr marL="342900" indent="-342900">
              <a:buFont typeface="Arial" pitchFamily="34" charset="0"/>
              <a:buChar char="•"/>
            </a:pPr>
            <a:r>
              <a:rPr lang="en-IN" sz="3200" dirty="0" smtClean="0">
                <a:latin typeface="Times New Roman" pitchFamily="18" charset="0"/>
                <a:cs typeface="Times New Roman" pitchFamily="18" charset="0"/>
              </a:rPr>
              <a:t>Interactive dashboard visualization (Chart.js)</a:t>
            </a:r>
          </a:p>
          <a:p>
            <a:r>
              <a:rPr lang="en-IN" sz="4000" b="1" dirty="0" smtClean="0">
                <a:latin typeface="Times New Roman" pitchFamily="18" charset="0"/>
                <a:cs typeface="Times New Roman" pitchFamily="18" charset="0"/>
              </a:rPr>
              <a:t>Our </a:t>
            </a:r>
            <a:r>
              <a:rPr lang="en-IN" sz="4000" b="1" dirty="0" smtClean="0">
                <a:latin typeface="Times New Roman" pitchFamily="18" charset="0"/>
                <a:cs typeface="Times New Roman" pitchFamily="18" charset="0"/>
              </a:rPr>
              <a:t>system dynamically adapts:</a:t>
            </a:r>
          </a:p>
          <a:p>
            <a:pPr marL="342900" indent="-342900">
              <a:buFont typeface="Arial" pitchFamily="34" charset="0"/>
              <a:buChar char="•"/>
            </a:pPr>
            <a:r>
              <a:rPr lang="en-US" sz="3200" dirty="0" smtClean="0">
                <a:latin typeface="Times New Roman" pitchFamily="18" charset="0"/>
                <a:cs typeface="Times New Roman" pitchFamily="18" charset="0"/>
              </a:rPr>
              <a:t>High Risk → Intensive support</a:t>
            </a:r>
          </a:p>
          <a:p>
            <a:pPr marL="342900" indent="-342900">
              <a:buFont typeface="Arial" pitchFamily="34" charset="0"/>
              <a:buChar char="•"/>
            </a:pPr>
            <a:r>
              <a:rPr lang="en-US" sz="3200" dirty="0" smtClean="0">
                <a:latin typeface="Times New Roman" pitchFamily="18" charset="0"/>
                <a:cs typeface="Times New Roman" pitchFamily="18" charset="0"/>
              </a:rPr>
              <a:t>Moderate → Preventive advice</a:t>
            </a:r>
          </a:p>
          <a:p>
            <a:pPr marL="342900" indent="-342900">
              <a:buFont typeface="Arial" pitchFamily="34" charset="0"/>
              <a:buChar char="•"/>
            </a:pPr>
            <a:r>
              <a:rPr lang="en-US" sz="3200" dirty="0" smtClean="0">
                <a:latin typeface="Times New Roman" pitchFamily="18" charset="0"/>
                <a:cs typeface="Times New Roman" pitchFamily="18" charset="0"/>
              </a:rPr>
              <a:t>Low → Positive reinforcement</a:t>
            </a:r>
          </a:p>
          <a:p>
            <a:endParaRPr lang="en-US" sz="2400" dirty="0" smtClean="0">
              <a:latin typeface="Times New Roman" pitchFamily="18" charset="0"/>
              <a:cs typeface="Times New Roman" pitchFamily="18" charset="0"/>
            </a:endParaRPr>
          </a:p>
          <a:p>
            <a:r>
              <a:rPr lang="en-US" sz="4000" b="1" dirty="0">
                <a:latin typeface="Times New Roman" pitchFamily="18" charset="0"/>
                <a:cs typeface="Times New Roman" pitchFamily="18" charset="0"/>
              </a:rPr>
              <a:t>Scalability &amp; </a:t>
            </a:r>
            <a:r>
              <a:rPr lang="en-US" sz="4000" b="1" dirty="0" smtClean="0">
                <a:latin typeface="Times New Roman" pitchFamily="18" charset="0"/>
                <a:cs typeface="Times New Roman" pitchFamily="18" charset="0"/>
              </a:rPr>
              <a:t>Adaptability</a:t>
            </a:r>
          </a:p>
          <a:p>
            <a:pPr marL="342900" indent="-342900">
              <a:buFont typeface="Arial" pitchFamily="34" charset="0"/>
              <a:buChar char="•"/>
            </a:pP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Voice emotion </a:t>
            </a:r>
            <a:r>
              <a:rPr lang="en-US" sz="3200" dirty="0" smtClean="0">
                <a:latin typeface="Times New Roman" pitchFamily="18" charset="0"/>
                <a:cs typeface="Times New Roman" pitchFamily="18" charset="0"/>
              </a:rPr>
              <a:t>detection</a:t>
            </a:r>
          </a:p>
          <a:p>
            <a:pPr marL="342900" indent="-342900">
              <a:buFont typeface="Arial" pitchFamily="34" charset="0"/>
              <a:buChar char="•"/>
            </a:pPr>
            <a:r>
              <a:rPr lang="en-US" sz="3200" dirty="0" smtClean="0">
                <a:latin typeface="Times New Roman" pitchFamily="18" charset="0"/>
                <a:cs typeface="Times New Roman" pitchFamily="18" charset="0"/>
              </a:rPr>
              <a:t>Wearable </a:t>
            </a:r>
            <a:r>
              <a:rPr lang="en-US" sz="3200" dirty="0">
                <a:latin typeface="Times New Roman" pitchFamily="18" charset="0"/>
                <a:cs typeface="Times New Roman" pitchFamily="18" charset="0"/>
              </a:rPr>
              <a:t>integration (heart rate, sleep tracking</a:t>
            </a:r>
            <a:r>
              <a:rPr lang="en-US" sz="3200" dirty="0" smtClean="0">
                <a:latin typeface="Times New Roman" pitchFamily="18" charset="0"/>
                <a:cs typeface="Times New Roman" pitchFamily="18" charset="0"/>
              </a:rPr>
              <a:t>)</a:t>
            </a:r>
          </a:p>
          <a:p>
            <a:pPr marL="342900" indent="-342900">
              <a:buFont typeface="Arial" pitchFamily="34" charset="0"/>
              <a:buChar char="•"/>
            </a:pPr>
            <a:r>
              <a:rPr lang="en-US" sz="3200" dirty="0" smtClean="0">
                <a:latin typeface="Times New Roman" pitchFamily="18" charset="0"/>
                <a:cs typeface="Times New Roman" pitchFamily="18" charset="0"/>
              </a:rPr>
              <a:t>Mobile </a:t>
            </a:r>
            <a:r>
              <a:rPr lang="en-US" sz="3200" dirty="0">
                <a:latin typeface="Times New Roman" pitchFamily="18" charset="0"/>
                <a:cs typeface="Times New Roman" pitchFamily="18" charset="0"/>
              </a:rPr>
              <a:t>app </a:t>
            </a:r>
            <a:r>
              <a:rPr lang="en-US" sz="3200" dirty="0" smtClean="0">
                <a:latin typeface="Times New Roman" pitchFamily="18" charset="0"/>
                <a:cs typeface="Times New Roman" pitchFamily="18" charset="0"/>
              </a:rPr>
              <a:t>deployment</a:t>
            </a:r>
          </a:p>
          <a:p>
            <a:pPr marL="342900" indent="-342900">
              <a:buFont typeface="Arial" pitchFamily="34" charset="0"/>
              <a:buChar char="•"/>
            </a:pPr>
            <a:r>
              <a:rPr lang="en-US" sz="3200" dirty="0" smtClean="0">
                <a:latin typeface="Times New Roman" pitchFamily="18" charset="0"/>
                <a:cs typeface="Times New Roman" pitchFamily="18" charset="0"/>
              </a:rPr>
              <a:t>Cloud-based </a:t>
            </a:r>
            <a:r>
              <a:rPr lang="en-US" sz="3200" dirty="0">
                <a:latin typeface="Times New Roman" pitchFamily="18" charset="0"/>
                <a:cs typeface="Times New Roman" pitchFamily="18" charset="0"/>
              </a:rPr>
              <a:t>real-time </a:t>
            </a:r>
            <a:r>
              <a:rPr lang="en-US" sz="3200" dirty="0" smtClean="0">
                <a:latin typeface="Times New Roman" pitchFamily="18" charset="0"/>
                <a:cs typeface="Times New Roman" pitchFamily="18" charset="0"/>
              </a:rPr>
              <a:t>monitoring</a:t>
            </a:r>
          </a:p>
          <a:p>
            <a:pPr marL="342900" indent="-342900">
              <a:buFont typeface="Arial" pitchFamily="34" charset="0"/>
              <a:buChar char="•"/>
            </a:pPr>
            <a:r>
              <a:rPr lang="en-US" sz="3200" dirty="0" smtClean="0">
                <a:latin typeface="Times New Roman" pitchFamily="18" charset="0"/>
                <a:cs typeface="Times New Roman" pitchFamily="18" charset="0"/>
              </a:rPr>
              <a:t>Hospital </a:t>
            </a:r>
            <a:r>
              <a:rPr lang="en-US" sz="3200" dirty="0">
                <a:latin typeface="Times New Roman" pitchFamily="18" charset="0"/>
                <a:cs typeface="Times New Roman" pitchFamily="18" charset="0"/>
              </a:rPr>
              <a:t>/ school deployment</a:t>
            </a:r>
            <a:endParaRPr lang="en-US" sz="3200" dirty="0" smtClean="0">
              <a:latin typeface="Times New Roman" pitchFamily="18" charset="0"/>
              <a:cs typeface="Times New Roman" pitchFamily="18" charset="0"/>
            </a:endParaRPr>
          </a:p>
          <a:p>
            <a:endParaRPr lang="en-IN" sz="2400" dirty="0" smtClean="0"/>
          </a:p>
          <a:p>
            <a:endParaRPr lang="en-IN" sz="2400" dirty="0"/>
          </a:p>
        </p:txBody>
      </p:sp>
      <p:sp>
        <p:nvSpPr>
          <p:cNvPr id="5" name="Rectangle 4"/>
          <p:cNvSpPr/>
          <p:nvPr/>
        </p:nvSpPr>
        <p:spPr>
          <a:xfrm>
            <a:off x="5562600" y="419100"/>
            <a:ext cx="8001000" cy="830997"/>
          </a:xfrm>
          <a:prstGeom prst="rect">
            <a:avLst/>
          </a:prstGeom>
        </p:spPr>
        <p:txBody>
          <a:bodyPr wrap="square">
            <a:spAutoFit/>
          </a:bodyPr>
          <a:lstStyle/>
          <a:p>
            <a:pPr lvl="0" algn="ctr"/>
            <a:r>
              <a:rPr lang="en-IN" sz="4800" b="1" dirty="0">
                <a:solidFill>
                  <a:prstClr val="black"/>
                </a:solidFill>
                <a:latin typeface="Modern No. 20" pitchFamily="18" charset="0"/>
              </a:rPr>
              <a:t>Innovation &amp; Uniqueness</a:t>
            </a:r>
          </a:p>
        </p:txBody>
      </p:sp>
    </p:spTree>
    <p:extLst>
      <p:ext uri="{BB962C8B-B14F-4D97-AF65-F5344CB8AC3E}">
        <p14:creationId xmlns:p14="http://schemas.microsoft.com/office/powerpoint/2010/main" val="7572745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p:cNvSpPr/>
          <p:nvPr/>
        </p:nvSpPr>
        <p:spPr>
          <a:xfrm>
            <a:off x="-3629" y="1237397"/>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2"/>
            <a:stretch>
              <a:fillRect/>
            </a:stretch>
          </a:blipFill>
        </p:spPr>
        <p:txBody>
          <a:bodyPr/>
          <a:lstStyle/>
          <a:p>
            <a:endParaRPr lang="en-IN" dirty="0"/>
          </a:p>
        </p:txBody>
      </p:sp>
      <p:sp>
        <p:nvSpPr>
          <p:cNvPr id="5" name="Rectangle 4"/>
          <p:cNvSpPr/>
          <p:nvPr/>
        </p:nvSpPr>
        <p:spPr>
          <a:xfrm>
            <a:off x="533400" y="1353862"/>
            <a:ext cx="14918123" cy="7355860"/>
          </a:xfrm>
          <a:prstGeom prst="rect">
            <a:avLst/>
          </a:prstGeom>
        </p:spPr>
        <p:txBody>
          <a:bodyPr wrap="none">
            <a:spAutoFit/>
          </a:bodyPr>
          <a:lstStyle/>
          <a:p>
            <a:pPr lvl="0"/>
            <a:r>
              <a:rPr lang="en-IN" sz="4000" b="1" dirty="0" smtClean="0">
                <a:solidFill>
                  <a:prstClr val="black"/>
                </a:solidFill>
                <a:latin typeface="Times New Roman" pitchFamily="18" charset="0"/>
                <a:cs typeface="Times New Roman" pitchFamily="18" charset="0"/>
              </a:rPr>
              <a:t>Summary of Our Solution</a:t>
            </a:r>
          </a:p>
          <a:p>
            <a:pPr marL="457200" lvl="0" indent="-457200">
              <a:buFont typeface="Arial" pitchFamily="34" charset="0"/>
              <a:buChar char="•"/>
            </a:pPr>
            <a:r>
              <a:rPr lang="en-IN" sz="3200" dirty="0" err="1">
                <a:solidFill>
                  <a:prstClr val="black"/>
                </a:solidFill>
                <a:latin typeface="Times New Roman" pitchFamily="18" charset="0"/>
                <a:cs typeface="Times New Roman" pitchFamily="18" charset="0"/>
              </a:rPr>
              <a:t>Analyzes</a:t>
            </a:r>
            <a:r>
              <a:rPr lang="en-IN" sz="3200" dirty="0">
                <a:solidFill>
                  <a:prstClr val="black"/>
                </a:solidFill>
                <a:latin typeface="Times New Roman" pitchFamily="18" charset="0"/>
                <a:cs typeface="Times New Roman" pitchFamily="18" charset="0"/>
              </a:rPr>
              <a:t> passive </a:t>
            </a:r>
            <a:r>
              <a:rPr lang="en-IN" sz="3200" dirty="0" err="1">
                <a:solidFill>
                  <a:prstClr val="black"/>
                </a:solidFill>
                <a:latin typeface="Times New Roman" pitchFamily="18" charset="0"/>
                <a:cs typeface="Times New Roman" pitchFamily="18" charset="0"/>
              </a:rPr>
              <a:t>behavioral</a:t>
            </a:r>
            <a:r>
              <a:rPr lang="en-IN" sz="3200" dirty="0">
                <a:solidFill>
                  <a:prstClr val="black"/>
                </a:solidFill>
                <a:latin typeface="Times New Roman" pitchFamily="18" charset="0"/>
                <a:cs typeface="Times New Roman" pitchFamily="18" charset="0"/>
              </a:rPr>
              <a:t> </a:t>
            </a:r>
            <a:r>
              <a:rPr lang="en-IN" sz="3200" dirty="0" smtClean="0">
                <a:solidFill>
                  <a:prstClr val="black"/>
                </a:solidFill>
                <a:latin typeface="Times New Roman" pitchFamily="18" charset="0"/>
                <a:cs typeface="Times New Roman" pitchFamily="18" charset="0"/>
              </a:rPr>
              <a:t>signals</a:t>
            </a:r>
          </a:p>
          <a:p>
            <a:pPr marL="457200" lvl="0" indent="-457200">
              <a:buFont typeface="Arial" pitchFamily="34" charset="0"/>
              <a:buChar char="•"/>
            </a:pPr>
            <a:r>
              <a:rPr lang="en-IN" sz="3200" dirty="0" smtClean="0">
                <a:solidFill>
                  <a:prstClr val="black"/>
                </a:solidFill>
                <a:latin typeface="Times New Roman" pitchFamily="18" charset="0"/>
                <a:cs typeface="Times New Roman" pitchFamily="18" charset="0"/>
              </a:rPr>
              <a:t>Uses </a:t>
            </a:r>
            <a:r>
              <a:rPr lang="en-IN" sz="3200" dirty="0">
                <a:solidFill>
                  <a:prstClr val="black"/>
                </a:solidFill>
                <a:latin typeface="Times New Roman" pitchFamily="18" charset="0"/>
                <a:cs typeface="Times New Roman" pitchFamily="18" charset="0"/>
              </a:rPr>
              <a:t>Machine Learning for risk </a:t>
            </a:r>
            <a:r>
              <a:rPr lang="en-IN" sz="3200" dirty="0" smtClean="0">
                <a:solidFill>
                  <a:prstClr val="black"/>
                </a:solidFill>
                <a:latin typeface="Times New Roman" pitchFamily="18" charset="0"/>
                <a:cs typeface="Times New Roman" pitchFamily="18" charset="0"/>
              </a:rPr>
              <a:t>classification</a:t>
            </a:r>
          </a:p>
          <a:p>
            <a:pPr marL="457200" lvl="0" indent="-457200">
              <a:buFont typeface="Arial" pitchFamily="34" charset="0"/>
              <a:buChar char="•"/>
            </a:pPr>
            <a:r>
              <a:rPr lang="en-IN" sz="3200" dirty="0" smtClean="0">
                <a:solidFill>
                  <a:prstClr val="black"/>
                </a:solidFill>
                <a:latin typeface="Times New Roman" pitchFamily="18" charset="0"/>
                <a:cs typeface="Times New Roman" pitchFamily="18" charset="0"/>
              </a:rPr>
              <a:t>Provides </a:t>
            </a:r>
            <a:r>
              <a:rPr lang="en-IN" sz="3200" dirty="0">
                <a:solidFill>
                  <a:prstClr val="black"/>
                </a:solidFill>
                <a:latin typeface="Times New Roman" pitchFamily="18" charset="0"/>
                <a:cs typeface="Times New Roman" pitchFamily="18" charset="0"/>
              </a:rPr>
              <a:t>real-time dashboard </a:t>
            </a:r>
            <a:r>
              <a:rPr lang="en-IN" sz="3200" dirty="0" smtClean="0">
                <a:solidFill>
                  <a:prstClr val="black"/>
                </a:solidFill>
                <a:latin typeface="Times New Roman" pitchFamily="18" charset="0"/>
                <a:cs typeface="Times New Roman" pitchFamily="18" charset="0"/>
              </a:rPr>
              <a:t>visualization</a:t>
            </a:r>
          </a:p>
          <a:p>
            <a:pPr marL="457200" lvl="0" indent="-457200">
              <a:buFont typeface="Arial" pitchFamily="34" charset="0"/>
              <a:buChar char="•"/>
            </a:pPr>
            <a:r>
              <a:rPr lang="en-IN" sz="3200" dirty="0" smtClean="0">
                <a:solidFill>
                  <a:prstClr val="black"/>
                </a:solidFill>
                <a:latin typeface="Times New Roman" pitchFamily="18" charset="0"/>
                <a:cs typeface="Times New Roman" pitchFamily="18" charset="0"/>
              </a:rPr>
              <a:t>Offers </a:t>
            </a:r>
            <a:r>
              <a:rPr lang="en-IN" sz="3200" dirty="0">
                <a:solidFill>
                  <a:prstClr val="black"/>
                </a:solidFill>
                <a:latin typeface="Times New Roman" pitchFamily="18" charset="0"/>
                <a:cs typeface="Times New Roman" pitchFamily="18" charset="0"/>
              </a:rPr>
              <a:t>preventive therapy </a:t>
            </a:r>
            <a:r>
              <a:rPr lang="en-IN" sz="3200" dirty="0" err="1">
                <a:solidFill>
                  <a:prstClr val="black"/>
                </a:solidFill>
                <a:latin typeface="Times New Roman" pitchFamily="18" charset="0"/>
                <a:cs typeface="Times New Roman" pitchFamily="18" charset="0"/>
              </a:rPr>
              <a:t>suggestionsIncludes</a:t>
            </a:r>
            <a:r>
              <a:rPr lang="en-IN" sz="3200" dirty="0">
                <a:solidFill>
                  <a:prstClr val="black"/>
                </a:solidFill>
                <a:latin typeface="Times New Roman" pitchFamily="18" charset="0"/>
                <a:cs typeface="Times New Roman" pitchFamily="18" charset="0"/>
              </a:rPr>
              <a:t> interactive mental wellness </a:t>
            </a:r>
            <a:r>
              <a:rPr lang="en-IN" sz="3200" dirty="0" smtClean="0">
                <a:solidFill>
                  <a:prstClr val="black"/>
                </a:solidFill>
                <a:latin typeface="Times New Roman" pitchFamily="18" charset="0"/>
                <a:cs typeface="Times New Roman" pitchFamily="18" charset="0"/>
              </a:rPr>
              <a:t>games</a:t>
            </a:r>
          </a:p>
          <a:p>
            <a:pPr lvl="0"/>
            <a:r>
              <a:rPr lang="en-IN" sz="4000" b="1" dirty="0" smtClean="0">
                <a:solidFill>
                  <a:prstClr val="black"/>
                </a:solidFill>
                <a:latin typeface="Times New Roman" pitchFamily="18" charset="0"/>
                <a:cs typeface="Times New Roman" pitchFamily="18" charset="0"/>
              </a:rPr>
              <a:t>Expected Impact</a:t>
            </a:r>
          </a:p>
          <a:p>
            <a:pPr marL="457200" lvl="0" indent="-457200">
              <a:buFont typeface="Arial" pitchFamily="34" charset="0"/>
              <a:buChar char="•"/>
            </a:pPr>
            <a:r>
              <a:rPr lang="en-US" sz="3200" dirty="0" smtClean="0">
                <a:solidFill>
                  <a:prstClr val="black"/>
                </a:solidFill>
                <a:latin typeface="Times New Roman" pitchFamily="18" charset="0"/>
                <a:cs typeface="Times New Roman" pitchFamily="18" charset="0"/>
              </a:rPr>
              <a:t>Enables early detection of depression risk</a:t>
            </a:r>
          </a:p>
          <a:p>
            <a:pPr marL="457200" lvl="0" indent="-457200">
              <a:buFont typeface="Arial" pitchFamily="34" charset="0"/>
              <a:buChar char="•"/>
            </a:pPr>
            <a:r>
              <a:rPr lang="en-US" sz="3200" dirty="0" smtClean="0">
                <a:solidFill>
                  <a:prstClr val="black"/>
                </a:solidFill>
                <a:latin typeface="Times New Roman" pitchFamily="18" charset="0"/>
                <a:cs typeface="Times New Roman" pitchFamily="18" charset="0"/>
              </a:rPr>
              <a:t>Encourages </a:t>
            </a:r>
            <a:r>
              <a:rPr lang="en-US" sz="3200" dirty="0">
                <a:solidFill>
                  <a:prstClr val="black"/>
                </a:solidFill>
                <a:latin typeface="Times New Roman" pitchFamily="18" charset="0"/>
                <a:cs typeface="Times New Roman" pitchFamily="18" charset="0"/>
              </a:rPr>
              <a:t>preventive mental health </a:t>
            </a:r>
            <a:r>
              <a:rPr lang="en-US" sz="3200" dirty="0" smtClean="0">
                <a:solidFill>
                  <a:prstClr val="black"/>
                </a:solidFill>
                <a:latin typeface="Times New Roman" pitchFamily="18" charset="0"/>
                <a:cs typeface="Times New Roman" pitchFamily="18" charset="0"/>
              </a:rPr>
              <a:t>care</a:t>
            </a:r>
          </a:p>
          <a:p>
            <a:pPr marL="457200" lvl="0" indent="-457200">
              <a:buFont typeface="Arial" pitchFamily="34" charset="0"/>
              <a:buChar char="•"/>
            </a:pPr>
            <a:r>
              <a:rPr lang="en-US" sz="3200" dirty="0" smtClean="0">
                <a:solidFill>
                  <a:prstClr val="black"/>
                </a:solidFill>
                <a:latin typeface="Times New Roman" pitchFamily="18" charset="0"/>
                <a:cs typeface="Times New Roman" pitchFamily="18" charset="0"/>
              </a:rPr>
              <a:t>Reduces </a:t>
            </a:r>
            <a:r>
              <a:rPr lang="en-US" sz="3200" dirty="0">
                <a:solidFill>
                  <a:prstClr val="black"/>
                </a:solidFill>
                <a:latin typeface="Times New Roman" pitchFamily="18" charset="0"/>
                <a:cs typeface="Times New Roman" pitchFamily="18" charset="0"/>
              </a:rPr>
              <a:t>stigma through simple, accessible </a:t>
            </a:r>
            <a:r>
              <a:rPr lang="en-US" sz="3200" dirty="0" smtClean="0">
                <a:solidFill>
                  <a:prstClr val="black"/>
                </a:solidFill>
                <a:latin typeface="Times New Roman" pitchFamily="18" charset="0"/>
                <a:cs typeface="Times New Roman" pitchFamily="18" charset="0"/>
              </a:rPr>
              <a:t>interface</a:t>
            </a:r>
          </a:p>
          <a:p>
            <a:pPr marL="457200" lvl="0" indent="-457200">
              <a:buFont typeface="Arial" pitchFamily="34" charset="0"/>
              <a:buChar char="•"/>
            </a:pPr>
            <a:r>
              <a:rPr lang="en-US" sz="3200" dirty="0" smtClean="0">
                <a:solidFill>
                  <a:prstClr val="black"/>
                </a:solidFill>
                <a:latin typeface="Times New Roman" pitchFamily="18" charset="0"/>
                <a:cs typeface="Times New Roman" pitchFamily="18" charset="0"/>
              </a:rPr>
              <a:t>Promotes </a:t>
            </a:r>
            <a:r>
              <a:rPr lang="en-US" sz="3200" dirty="0">
                <a:solidFill>
                  <a:prstClr val="black"/>
                </a:solidFill>
                <a:latin typeface="Times New Roman" pitchFamily="18" charset="0"/>
                <a:cs typeface="Times New Roman" pitchFamily="18" charset="0"/>
              </a:rPr>
              <a:t>self-awareness and healthy </a:t>
            </a:r>
            <a:r>
              <a:rPr lang="en-US" sz="3200" dirty="0" smtClean="0">
                <a:solidFill>
                  <a:prstClr val="black"/>
                </a:solidFill>
                <a:latin typeface="Times New Roman" pitchFamily="18" charset="0"/>
                <a:cs typeface="Times New Roman" pitchFamily="18" charset="0"/>
              </a:rPr>
              <a:t>habits</a:t>
            </a:r>
          </a:p>
          <a:p>
            <a:pPr marL="457200" lvl="0" indent="-457200">
              <a:buFont typeface="Arial" pitchFamily="34" charset="0"/>
              <a:buChar char="•"/>
            </a:pPr>
            <a:r>
              <a:rPr lang="en-US" sz="3200" dirty="0" smtClean="0">
                <a:solidFill>
                  <a:prstClr val="black"/>
                </a:solidFill>
                <a:latin typeface="Times New Roman" pitchFamily="18" charset="0"/>
                <a:cs typeface="Times New Roman" pitchFamily="18" charset="0"/>
              </a:rPr>
              <a:t>Supports </a:t>
            </a:r>
            <a:r>
              <a:rPr lang="en-US" sz="3200" dirty="0">
                <a:solidFill>
                  <a:prstClr val="black"/>
                </a:solidFill>
                <a:latin typeface="Times New Roman" pitchFamily="18" charset="0"/>
                <a:cs typeface="Times New Roman" pitchFamily="18" charset="0"/>
              </a:rPr>
              <a:t>emotional well-being through </a:t>
            </a:r>
            <a:r>
              <a:rPr lang="en-US" sz="3200" dirty="0" smtClean="0">
                <a:solidFill>
                  <a:prstClr val="black"/>
                </a:solidFill>
                <a:latin typeface="Times New Roman" pitchFamily="18" charset="0"/>
                <a:cs typeface="Times New Roman" pitchFamily="18" charset="0"/>
              </a:rPr>
              <a:t>engagement</a:t>
            </a:r>
          </a:p>
          <a:p>
            <a:pPr marL="457200" lvl="0" indent="-457200">
              <a:buFont typeface="Arial" pitchFamily="34" charset="0"/>
              <a:buChar char="•"/>
            </a:pPr>
            <a:endParaRPr lang="en-US" sz="3200" dirty="0">
              <a:solidFill>
                <a:prstClr val="black"/>
              </a:solidFill>
              <a:latin typeface="Times New Roman" pitchFamily="18" charset="0"/>
              <a:cs typeface="Times New Roman" pitchFamily="18" charset="0"/>
            </a:endParaRPr>
          </a:p>
          <a:p>
            <a:pPr lvl="0"/>
            <a:r>
              <a:rPr lang="en-IN" sz="4000" b="1" dirty="0">
                <a:solidFill>
                  <a:prstClr val="black"/>
                </a:solidFill>
                <a:latin typeface="Times New Roman" pitchFamily="18" charset="0"/>
                <a:cs typeface="Times New Roman" pitchFamily="18" charset="0"/>
              </a:rPr>
              <a:t>This solution can </a:t>
            </a:r>
            <a:r>
              <a:rPr lang="en-IN" sz="4000" b="1" dirty="0" smtClean="0">
                <a:solidFill>
                  <a:prstClr val="black"/>
                </a:solidFill>
                <a:latin typeface="Times New Roman" pitchFamily="18" charset="0"/>
                <a:cs typeface="Times New Roman" pitchFamily="18" charset="0"/>
              </a:rPr>
              <a:t>help</a:t>
            </a:r>
          </a:p>
          <a:p>
            <a:pPr marL="457200" lvl="0" indent="-457200">
              <a:buFont typeface="Arial" pitchFamily="34" charset="0"/>
              <a:buChar char="•"/>
            </a:pPr>
            <a:r>
              <a:rPr lang="en-US" sz="3200" dirty="0" smtClean="0">
                <a:solidFill>
                  <a:prstClr val="black"/>
                </a:solidFill>
                <a:latin typeface="Times New Roman" pitchFamily="18" charset="0"/>
                <a:cs typeface="Times New Roman" pitchFamily="18" charset="0"/>
              </a:rPr>
              <a:t>Students Working </a:t>
            </a:r>
            <a:r>
              <a:rPr lang="en-US" sz="3200" dirty="0" smtClean="0">
                <a:solidFill>
                  <a:prstClr val="black"/>
                </a:solidFill>
                <a:latin typeface="Times New Roman" pitchFamily="18" charset="0"/>
                <a:cs typeface="Times New Roman" pitchFamily="18" charset="0"/>
              </a:rPr>
              <a:t>, </a:t>
            </a:r>
            <a:r>
              <a:rPr lang="en-US" sz="3200" dirty="0" smtClean="0">
                <a:solidFill>
                  <a:prstClr val="black"/>
                </a:solidFill>
                <a:latin typeface="Times New Roman" pitchFamily="18" charset="0"/>
                <a:cs typeface="Times New Roman" pitchFamily="18" charset="0"/>
              </a:rPr>
              <a:t>professionals Educational </a:t>
            </a:r>
            <a:r>
              <a:rPr lang="en-US" sz="3200" dirty="0" smtClean="0">
                <a:solidFill>
                  <a:prstClr val="black"/>
                </a:solidFill>
                <a:latin typeface="Times New Roman" pitchFamily="18" charset="0"/>
                <a:cs typeface="Times New Roman" pitchFamily="18" charset="0"/>
              </a:rPr>
              <a:t>, </a:t>
            </a:r>
            <a:r>
              <a:rPr lang="en-US" sz="3200" dirty="0" smtClean="0">
                <a:solidFill>
                  <a:prstClr val="black"/>
                </a:solidFill>
                <a:latin typeface="Times New Roman" pitchFamily="18" charset="0"/>
                <a:cs typeface="Times New Roman" pitchFamily="18" charset="0"/>
              </a:rPr>
              <a:t>institutions Healthcare </a:t>
            </a:r>
            <a:r>
              <a:rPr lang="en-US" sz="3200" dirty="0">
                <a:solidFill>
                  <a:prstClr val="black"/>
                </a:solidFill>
                <a:latin typeface="Times New Roman" pitchFamily="18" charset="0"/>
                <a:cs typeface="Times New Roman" pitchFamily="18" charset="0"/>
              </a:rPr>
              <a:t>support systems</a:t>
            </a:r>
            <a:endParaRPr lang="en-IN" sz="3200" dirty="0">
              <a:solidFill>
                <a:prstClr val="black"/>
              </a:solidFill>
              <a:latin typeface="Times New Roman" pitchFamily="18" charset="0"/>
              <a:cs typeface="Times New Roman" pitchFamily="18" charset="0"/>
            </a:endParaRPr>
          </a:p>
        </p:txBody>
      </p:sp>
      <p:sp>
        <p:nvSpPr>
          <p:cNvPr id="6" name="TextBox 5"/>
          <p:cNvSpPr txBox="1"/>
          <p:nvPr/>
        </p:nvSpPr>
        <p:spPr>
          <a:xfrm>
            <a:off x="3657600" y="342900"/>
            <a:ext cx="8915400" cy="830997"/>
          </a:xfrm>
          <a:prstGeom prst="rect">
            <a:avLst/>
          </a:prstGeom>
          <a:noFill/>
        </p:spPr>
        <p:txBody>
          <a:bodyPr wrap="square" rtlCol="0">
            <a:spAutoFit/>
          </a:bodyPr>
          <a:lstStyle/>
          <a:p>
            <a:pPr algn="ctr"/>
            <a:r>
              <a:rPr lang="en-IN" sz="4800" b="1" dirty="0">
                <a:latin typeface="Modern No. 20" pitchFamily="18" charset="0"/>
              </a:rPr>
              <a:t>Conclusion</a:t>
            </a:r>
          </a:p>
        </p:txBody>
      </p:sp>
    </p:spTree>
    <p:extLst>
      <p:ext uri="{BB962C8B-B14F-4D97-AF65-F5344CB8AC3E}">
        <p14:creationId xmlns:p14="http://schemas.microsoft.com/office/powerpoint/2010/main" val="4272772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4"/>
          <p:cNvSpPr/>
          <p:nvPr/>
        </p:nvSpPr>
        <p:spPr>
          <a:xfrm>
            <a:off x="0" y="2319657"/>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2"/>
            <a:stretch>
              <a:fillRect/>
            </a:stretch>
          </a:blipFill>
        </p:spPr>
        <p:txBody>
          <a:bodyPr/>
          <a:lstStyle/>
          <a:p>
            <a:endParaRPr lang="en-IN"/>
          </a:p>
        </p:txBody>
      </p:sp>
      <p:sp>
        <p:nvSpPr>
          <p:cNvPr id="4" name="TextBox 3"/>
          <p:cNvSpPr txBox="1"/>
          <p:nvPr/>
        </p:nvSpPr>
        <p:spPr>
          <a:xfrm>
            <a:off x="381001" y="2552700"/>
            <a:ext cx="10134600" cy="4524315"/>
          </a:xfrm>
          <a:prstGeom prst="rect">
            <a:avLst/>
          </a:prstGeom>
          <a:noFill/>
        </p:spPr>
        <p:txBody>
          <a:bodyPr wrap="square" rtlCol="0">
            <a:spAutoFit/>
          </a:bodyPr>
          <a:lstStyle/>
          <a:p>
            <a:r>
              <a:rPr lang="en-US" sz="3200" dirty="0">
                <a:latin typeface="Times New Roman" pitchFamily="18" charset="0"/>
                <a:cs typeface="Times New Roman" pitchFamily="18" charset="0"/>
              </a:rPr>
              <a:t>• Developed an AI-based system for early depression risk detection  </a:t>
            </a:r>
          </a:p>
          <a:p>
            <a:r>
              <a:rPr lang="en-US" sz="3200" dirty="0">
                <a:latin typeface="Times New Roman" pitchFamily="18" charset="0"/>
                <a:cs typeface="Times New Roman" pitchFamily="18" charset="0"/>
              </a:rPr>
              <a:t>• Combines machine learning with interactive mental wellness features  </a:t>
            </a:r>
          </a:p>
          <a:p>
            <a:r>
              <a:rPr lang="en-US" sz="3200" dirty="0">
                <a:latin typeface="Times New Roman" pitchFamily="18" charset="0"/>
                <a:cs typeface="Times New Roman" pitchFamily="18" charset="0"/>
              </a:rPr>
              <a:t>• Provides personalized support like therapy, games, and voice analysis  </a:t>
            </a:r>
          </a:p>
          <a:p>
            <a:r>
              <a:rPr lang="en-US" sz="3200" dirty="0">
                <a:latin typeface="Times New Roman" pitchFamily="18" charset="0"/>
                <a:cs typeface="Times New Roman" pitchFamily="18" charset="0"/>
              </a:rPr>
              <a:t>• Promotes preventive mental healthcare and user engagement  </a:t>
            </a:r>
          </a:p>
          <a:p>
            <a:r>
              <a:rPr lang="en-US" sz="3200" dirty="0">
                <a:latin typeface="Times New Roman" pitchFamily="18" charset="0"/>
                <a:cs typeface="Times New Roman" pitchFamily="18" charset="0"/>
              </a:rPr>
              <a:t>• Can be extended for real-world healthcare applications</a:t>
            </a:r>
            <a:endParaRPr lang="en-IN" sz="3200" dirty="0">
              <a:latin typeface="Times New Roman" pitchFamily="18" charset="0"/>
              <a:cs typeface="Times New Roman" pitchFamily="18" charset="0"/>
            </a:endParaRPr>
          </a:p>
        </p:txBody>
      </p:sp>
      <p:sp>
        <p:nvSpPr>
          <p:cNvPr id="7" name="TextBox 6"/>
          <p:cNvSpPr txBox="1"/>
          <p:nvPr/>
        </p:nvSpPr>
        <p:spPr>
          <a:xfrm>
            <a:off x="6447971" y="821844"/>
            <a:ext cx="3048000" cy="830997"/>
          </a:xfrm>
          <a:prstGeom prst="rect">
            <a:avLst/>
          </a:prstGeom>
          <a:noFill/>
        </p:spPr>
        <p:txBody>
          <a:bodyPr wrap="square" rtlCol="0">
            <a:spAutoFit/>
          </a:bodyPr>
          <a:lstStyle/>
          <a:p>
            <a:pPr algn="ctr"/>
            <a:r>
              <a:rPr lang="en-IN" sz="4800" b="1" dirty="0">
                <a:latin typeface="Modern No. 20" pitchFamily="18" charset="0"/>
              </a:rPr>
              <a:t>Conclusion</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4200" y="2552700"/>
            <a:ext cx="6781800" cy="4595072"/>
          </a:xfrm>
          <a:prstGeom prst="rect">
            <a:avLst/>
          </a:prstGeom>
        </p:spPr>
      </p:pic>
    </p:spTree>
    <p:extLst>
      <p:ext uri="{BB962C8B-B14F-4D97-AF65-F5344CB8AC3E}">
        <p14:creationId xmlns:p14="http://schemas.microsoft.com/office/powerpoint/2010/main" val="12771523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5334000" y="4786943"/>
            <a:ext cx="6146023" cy="1366620"/>
          </a:xfrm>
          <a:prstGeom prst="rect">
            <a:avLst/>
          </a:prstGeom>
        </p:spPr>
        <p:txBody>
          <a:bodyPr lIns="0" tIns="0" rIns="0" bIns="0" rtlCol="0" anchor="t">
            <a:spAutoFit/>
          </a:bodyPr>
          <a:lstStyle/>
          <a:p>
            <a:pPr algn="ctr">
              <a:lnSpc>
                <a:spcPts val="11164"/>
              </a:lnSpc>
              <a:spcBef>
                <a:spcPct val="0"/>
              </a:spcBef>
            </a:pPr>
            <a:r>
              <a:rPr lang="en-US" sz="7974" b="1" dirty="0" smtClean="0">
                <a:solidFill>
                  <a:srgbClr val="000000"/>
                </a:solidFill>
                <a:latin typeface="Cormorant Garamond Bold"/>
                <a:ea typeface="Cormorant Garamond Bold"/>
                <a:cs typeface="Cormorant Garamond Bold"/>
                <a:sym typeface="Cormorant Garamond Bold"/>
              </a:rPr>
              <a:t>THANK YOU!</a:t>
            </a:r>
            <a:endParaRPr lang="en-US" sz="7974" b="1" dirty="0">
              <a:solidFill>
                <a:srgbClr val="000000"/>
              </a:solidFill>
              <a:latin typeface="Cormorant Garamond Bold"/>
              <a:ea typeface="Cormorant Garamond Bold"/>
              <a:cs typeface="Cormorant Garamond Bold"/>
              <a:sym typeface="Cormorant Garamond Bold"/>
            </a:endParaRPr>
          </a:p>
        </p:txBody>
      </p:sp>
      <p:sp>
        <p:nvSpPr>
          <p:cNvPr id="6" name="Freeform 6"/>
          <p:cNvSpPr/>
          <p:nvPr/>
        </p:nvSpPr>
        <p:spPr>
          <a:xfrm>
            <a:off x="0" y="2319657"/>
            <a:ext cx="18288000" cy="69294"/>
          </a:xfrm>
          <a:custGeom>
            <a:avLst/>
            <a:gdLst/>
            <a:ahLst/>
            <a:cxnLst/>
            <a:rect l="l" t="t" r="r" b="b"/>
            <a:pathLst>
              <a:path w="18478456" h="69294">
                <a:moveTo>
                  <a:pt x="0" y="0"/>
                </a:moveTo>
                <a:lnTo>
                  <a:pt x="18478456" y="0"/>
                </a:lnTo>
                <a:lnTo>
                  <a:pt x="18478456" y="69294"/>
                </a:lnTo>
                <a:lnTo>
                  <a:pt x="0" y="69294"/>
                </a:lnTo>
                <a:lnTo>
                  <a:pt x="0" y="0"/>
                </a:lnTo>
                <a:close/>
              </a:path>
            </a:pathLst>
          </a:custGeom>
          <a:blipFill>
            <a:blip r:embed="rId3"/>
            <a:stretch>
              <a:fillRect/>
            </a:stretch>
          </a:blipFill>
        </p:spPr>
        <p:txBody>
          <a:bodyPr/>
          <a:lstStyle/>
          <a:p>
            <a:endParaRPr lang="en-IN"/>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1070</TotalTime>
  <Words>1095</Words>
  <Application>Microsoft Office PowerPoint</Application>
  <PresentationFormat>Custom</PresentationFormat>
  <Paragraphs>156</Paragraphs>
  <Slides>12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Mokoto</vt:lpstr>
      <vt:lpstr>Times New Roman</vt:lpstr>
      <vt:lpstr>Modern No. 20</vt:lpstr>
      <vt:lpstr>Cormorant Garamond Bold</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Your paragraph text</dc:title>
  <dc:creator>USER</dc:creator>
  <cp:lastModifiedBy>USER</cp:lastModifiedBy>
  <cp:revision>63</cp:revision>
  <dcterms:created xsi:type="dcterms:W3CDTF">2006-08-16T00:00:00Z</dcterms:created>
  <dcterms:modified xsi:type="dcterms:W3CDTF">2026-02-28T01:33:51Z</dcterms:modified>
  <dc:identifier>DAG3k-fZCMg</dc:identifier>
</cp:coreProperties>
</file>